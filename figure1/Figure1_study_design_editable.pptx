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e17f83799b4dbc" /><Relationship Type="http://schemas.openxmlformats.org/officeDocument/2006/relationships/extended-properties" Target="/docProps/app.xml" Id="Re610c318c3a74522" /><Relationship Type="http://schemas.openxmlformats.org/officeDocument/2006/relationships/officeDocument" Target="/ppt/presentation.xml" Id="R2311d455819e44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6b8381dc4049f8"/>
  </p:sldMasterIdLst>
  <p:notesMasterIdLst>
    <p:notesMasterId xmlns:r="http://schemas.openxmlformats.org/officeDocument/2006/relationships" r:id="R75d45810dce4444c"/>
  </p:notesMasterIdLst>
  <p:sldIdLst>
    <p:sldId xmlns:r="http://schemas.openxmlformats.org/officeDocument/2006/relationships" id="256" r:id="R4621b352d5d14d0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90159fd04c4dbf" /><Relationship Type="http://schemas.openxmlformats.org/officeDocument/2006/relationships/slideMaster" Target="/ppt/slideMasters/slideMaster1.xml" Id="R926b8381dc4049f8" /><Relationship Type="http://schemas.openxmlformats.org/officeDocument/2006/relationships/notesMaster" Target="/ppt/notesMasters/notesMaster1.xml" Id="R75d45810dce4444c" /><Relationship Type="http://schemas.openxmlformats.org/officeDocument/2006/relationships/presProps" Target="/ppt/presProps.xml" Id="R3a6381c525464e90" /><Relationship Type="http://schemas.openxmlformats.org/officeDocument/2006/relationships/tableStyles" Target="/ppt/tableStyles.xml" Id="R8892c2a84814406d" /><Relationship Type="http://schemas.openxmlformats.org/officeDocument/2006/relationships/slide" Target="/ppt/slides/slide1.xml" Id="R4621b352d5d14d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9fb5f2749b4b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20a3aa6df74feb" /><Relationship Type="http://schemas.openxmlformats.org/officeDocument/2006/relationships/notesMaster" Target="/ppt/notesMasters/notesMaster1.xml" Id="R01b4472dc2e74f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Study design reproduced as editable native PowerPoint shapes and text from the user-approved local reference: 最终材料/2026-10-01/图片优化版/00_研究设计总图/Study_design_academic_balanced_2026-10-02.png. All icons illustrate concepts, not observed participants or numerical findings. Cohorts analysed separately; no pooling of individual records or survey weights. All four phenotypes apply in both baseline symptom populations. Onset is primary; persistence is secondary. High symptoms: HRS CES-D-8 ≥4, SHARE EURO-D ≥4, CHARLS CES-D-10 ≥10. HRS 2022 symptom endpoint uses Final Core; death source remains archived RAND. Cohort RR: survey-weighted modified Poisson. Synthesis: REML with Hartung–Knapp. MI where used: m20, 50 iterations, finite-df intervals. HRS absolute risk: post-hoc survey-logistic standardization from saved MI. Official SHARE PSU/stratum sensitivity not performed. Main interpretation is observational symptom transitions among surviving follow-up respondents, not causal or clinical-diagnosis claims. Full figure caption: 简化版图注_2026-10-02.md. No participant records or model objects used in authoring.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64e950a4c4f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625e353b5c41d2" /><Relationship Type="http://schemas.openxmlformats.org/officeDocument/2006/relationships/slideLayout" Target="/ppt/slideLayouts/slideLayout1.xml" Id="Rdf86e5ed50c34a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86e5ed50c34a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e02e7bb1f4a39" /><Relationship Type="http://schemas.openxmlformats.org/officeDocument/2006/relationships/notesSlide" Target="/ppt/notesSlides/notesSlide1.xml" Id="Rcf80ff637f1c48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6" name="source_HRS_left_shoulders">
            <a:extLst xmlns:a="http://schemas.openxmlformats.org/drawingml/2006/main">
              <a:ext uri="{FF2B5EF4-FFF2-40B4-BE49-F238E27FC236}">
                <a16:creationId xmlns:a16="http://schemas.microsoft.com/office/drawing/2014/main" id="{274AEA56-3947-4B71-AD3F-38099B93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49059"/>
            <a:ext cx="581025" cy="398717"/>
          </a:xfrm>
          <a:custGeom xmlns:a="http://schemas.openxmlformats.org/drawingml/2006/main">
            <a:pathLst>
              <a:path w="581025" h="398717">
                <a:moveTo>
                  <a:pt x="0" y="398717"/>
                </a:moveTo>
                <a:lnTo>
                  <a:pt x="0" y="156019"/>
                </a:lnTo>
                <a:lnTo>
                  <a:pt x="69723" y="52006"/>
                </a:lnTo>
                <a:lnTo>
                  <a:pt x="209169" y="0"/>
                </a:lnTo>
                <a:lnTo>
                  <a:pt x="371856" y="0"/>
                </a:lnTo>
                <a:lnTo>
                  <a:pt x="511302" y="52006"/>
                </a:lnTo>
                <a:lnTo>
                  <a:pt x="581025" y="156019"/>
                </a:lnTo>
                <a:lnTo>
                  <a:pt x="581025" y="398717"/>
                </a:lnTo>
                <a:close/>
              </a:path>
            </a:pathLst>
          </a:cu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ource_HRS_left_neck">
            <a:extLst xmlns:a="http://schemas.openxmlformats.org/drawingml/2006/main">
              <a:ext uri="{FF2B5EF4-FFF2-40B4-BE49-F238E27FC236}">
                <a16:creationId xmlns:a16="http://schemas.microsoft.com/office/drawing/2014/main" id="{29ED0863-61A1-41D1-AD3E-104A693F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061" y="727710"/>
            <a:ext cx="87154" cy="147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D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ource_HRS_left_head">
            <a:extLst xmlns:a="http://schemas.openxmlformats.org/drawingml/2006/main">
              <a:ext uri="{FF2B5EF4-FFF2-40B4-BE49-F238E27FC236}">
                <a16:creationId xmlns:a16="http://schemas.microsoft.com/office/drawing/2014/main" id="{DE2A3B05-BFB4-4C75-8406-F0669C1C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5717" y="381000"/>
            <a:ext cx="249841" cy="3727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AD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_HRS_left_ear_left">
            <a:extLst xmlns:a="http://schemas.openxmlformats.org/drawingml/2006/main">
              <a:ext uri="{FF2B5EF4-FFF2-40B4-BE49-F238E27FC236}">
                <a16:creationId xmlns:a16="http://schemas.microsoft.com/office/drawing/2014/main" id="{C781CFFB-0306-4791-A439-E672D09D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228" y="537540"/>
            <a:ext cx="32479" cy="931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AD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_HRS_left_ear_right">
            <a:extLst xmlns:a="http://schemas.openxmlformats.org/drawingml/2006/main">
              <a:ext uri="{FF2B5EF4-FFF2-40B4-BE49-F238E27FC236}">
                <a16:creationId xmlns:a16="http://schemas.microsoft.com/office/drawing/2014/main" id="{10989722-F455-498D-ADCE-BE1DDE8E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567" y="537540"/>
            <a:ext cx="32479" cy="931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AD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_HRS_left_hair">
            <a:extLst xmlns:a="http://schemas.openxmlformats.org/drawingml/2006/main">
              <a:ext uri="{FF2B5EF4-FFF2-40B4-BE49-F238E27FC236}">
                <a16:creationId xmlns:a16="http://schemas.microsoft.com/office/drawing/2014/main" id="{46B62145-1F4D-4DD5-8D45-EBED0883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216" y="371475"/>
            <a:ext cx="244844" cy="110158"/>
          </a:xfrm>
          <a:custGeom xmlns:a="http://schemas.openxmlformats.org/drawingml/2006/main">
            <a:pathLst>
              <a:path w="244844" h="110158">
                <a:moveTo>
                  <a:pt x="0" y="110158"/>
                </a:moveTo>
                <a:lnTo>
                  <a:pt x="27482" y="31888"/>
                </a:lnTo>
                <a:lnTo>
                  <a:pt x="84946" y="0"/>
                </a:lnTo>
                <a:lnTo>
                  <a:pt x="157400" y="0"/>
                </a:lnTo>
                <a:lnTo>
                  <a:pt x="219860" y="31888"/>
                </a:lnTo>
                <a:lnTo>
                  <a:pt x="244844" y="110158"/>
                </a:lnTo>
                <a:lnTo>
                  <a:pt x="167393" y="80341"/>
                </a:lnTo>
                <a:lnTo>
                  <a:pt x="109930" y="102703"/>
                </a:lnTo>
                <a:lnTo>
                  <a:pt x="49968" y="76613"/>
                </a:lnTo>
                <a:close/>
              </a:path>
            </a:pathLst>
          </a:custGeom>
          <a:solidFill xmlns:a="http://schemas.openxmlformats.org/drawingml/2006/main">
            <a:srgbClr val="AAAA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ource_HRS_left_eye_left">
            <a:extLst xmlns:a="http://schemas.openxmlformats.org/drawingml/2006/main">
              <a:ext uri="{FF2B5EF4-FFF2-40B4-BE49-F238E27FC236}">
                <a16:creationId xmlns:a16="http://schemas.microsoft.com/office/drawing/2014/main" id="{F025B05D-4CA9-4B38-84C4-B84F851A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9966" y="55244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ource_HRS_left_eye_right">
            <a:extLst xmlns:a="http://schemas.openxmlformats.org/drawingml/2006/main">
              <a:ext uri="{FF2B5EF4-FFF2-40B4-BE49-F238E27FC236}">
                <a16:creationId xmlns:a16="http://schemas.microsoft.com/office/drawing/2014/main" id="{91F78468-CCFC-4FCE-9546-4975EC4F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3879" y="55244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ource_HRS_left_mouth">
            <a:extLst xmlns:a="http://schemas.openxmlformats.org/drawingml/2006/main">
              <a:ext uri="{FF2B5EF4-FFF2-40B4-BE49-F238E27FC236}">
                <a16:creationId xmlns:a16="http://schemas.microsoft.com/office/drawing/2014/main" id="{987FA5F9-ABF4-40C5-B0F7-DCE7D9FB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586" y="664262"/>
            <a:ext cx="58103" cy="953"/>
          </a:xfrm>
          <a:custGeom xmlns:a="http://schemas.openxmlformats.org/drawingml/2006/main">
            <a:pathLst>
              <a:path w="58103" h="953">
                <a:moveTo>
                  <a:pt x="0" y="0"/>
                </a:moveTo>
                <a:lnTo>
                  <a:pt x="581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845C48"/>
            </a:solidFill>
            <a:prstDash val="solid"/>
          </a:ln>
        </p:spPr>
      </p:sp>
      <p:sp>
        <p:nvSpPr>
          <p:cNvPr id="10" name="source_HRS_left_glasses_left">
            <a:extLst xmlns:a="http://schemas.openxmlformats.org/drawingml/2006/main">
              <a:ext uri="{FF2B5EF4-FFF2-40B4-BE49-F238E27FC236}">
                <a16:creationId xmlns:a16="http://schemas.microsoft.com/office/drawing/2014/main" id="{2025612F-84AB-4947-BEFF-3F587AC0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3484" y="518904"/>
            <a:ext cx="81344" cy="93178"/>
          </a:xfrm>
          <a:prstGeom xmlns:a="http://schemas.openxmlformats.org/drawingml/2006/main" prst="roundRect">
            <a:avLst>
              <a:gd name="adj" fmla="val 3512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4F5559"/>
            </a:solidFill>
            <a:prstDash val="solid"/>
          </a:ln>
        </p:spPr>
      </p:sp>
      <p:sp>
        <p:nvSpPr>
          <p:cNvPr id="11" name="source_HRS_left_glasses_right">
            <a:extLst xmlns:a="http://schemas.openxmlformats.org/drawingml/2006/main">
              <a:ext uri="{FF2B5EF4-FFF2-40B4-BE49-F238E27FC236}">
                <a16:creationId xmlns:a16="http://schemas.microsoft.com/office/drawing/2014/main" id="{066040C2-FDCF-4A9D-ABC0-CDD0F39F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6448" y="518904"/>
            <a:ext cx="81344" cy="93178"/>
          </a:xfrm>
          <a:prstGeom xmlns:a="http://schemas.openxmlformats.org/drawingml/2006/main" prst="roundRect">
            <a:avLst>
              <a:gd name="adj" fmla="val 3512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4F5559"/>
            </a:solidFill>
            <a:prstDash val="solid"/>
          </a:ln>
        </p:spPr>
      </p:sp>
      <p:sp>
        <p:nvSpPr>
          <p:cNvPr id="12" name="source_HRS_left_glasses_bridge">
            <a:extLst xmlns:a="http://schemas.openxmlformats.org/drawingml/2006/main">
              <a:ext uri="{FF2B5EF4-FFF2-40B4-BE49-F238E27FC236}">
                <a16:creationId xmlns:a16="http://schemas.microsoft.com/office/drawing/2014/main" id="{598CD14B-7461-4E98-A6E8-5A2DFCB2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827" y="563629"/>
            <a:ext cx="11621" cy="953"/>
          </a:xfrm>
          <a:custGeom xmlns:a="http://schemas.openxmlformats.org/drawingml/2006/main">
            <a:pathLst>
              <a:path w="11621" h="953">
                <a:moveTo>
                  <a:pt x="0" y="0"/>
                </a:moveTo>
                <a:lnTo>
                  <a:pt x="116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4F5559"/>
            </a:solidFill>
            <a:prstDash val="solid"/>
          </a:ln>
        </p:spPr>
      </p:sp>
      <p:sp>
        <p:nvSpPr>
          <p:cNvPr id="13" name="source_HRS_right_shoulders">
            <a:extLst xmlns:a="http://schemas.openxmlformats.org/drawingml/2006/main">
              <a:ext uri="{FF2B5EF4-FFF2-40B4-BE49-F238E27FC236}">
                <a16:creationId xmlns:a16="http://schemas.microsoft.com/office/drawing/2014/main" id="{C9361BFC-9229-4EC1-93B2-DE0B4578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49059"/>
            <a:ext cx="581025" cy="398717"/>
          </a:xfrm>
          <a:custGeom xmlns:a="http://schemas.openxmlformats.org/drawingml/2006/main">
            <a:pathLst>
              <a:path w="581025" h="398717">
                <a:moveTo>
                  <a:pt x="0" y="398717"/>
                </a:moveTo>
                <a:lnTo>
                  <a:pt x="0" y="156019"/>
                </a:lnTo>
                <a:lnTo>
                  <a:pt x="69723" y="52006"/>
                </a:lnTo>
                <a:lnTo>
                  <a:pt x="209169" y="0"/>
                </a:lnTo>
                <a:lnTo>
                  <a:pt x="371856" y="0"/>
                </a:lnTo>
                <a:lnTo>
                  <a:pt x="511302" y="52006"/>
                </a:lnTo>
                <a:lnTo>
                  <a:pt x="581025" y="156019"/>
                </a:lnTo>
                <a:lnTo>
                  <a:pt x="581025" y="398717"/>
                </a:lnTo>
                <a:close/>
              </a:path>
            </a:pathLst>
          </a:cu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ource_HRS_right_neck">
            <a:extLst xmlns:a="http://schemas.openxmlformats.org/drawingml/2006/main">
              <a:ext uri="{FF2B5EF4-FFF2-40B4-BE49-F238E27FC236}">
                <a16:creationId xmlns:a16="http://schemas.microsoft.com/office/drawing/2014/main" id="{3E9BF5AA-A644-493A-A7C9-69ED397B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2436" y="727710"/>
            <a:ext cx="87154" cy="147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ource_HRS_right_head">
            <a:extLst xmlns:a="http://schemas.openxmlformats.org/drawingml/2006/main">
              <a:ext uri="{FF2B5EF4-FFF2-40B4-BE49-F238E27FC236}">
                <a16:creationId xmlns:a16="http://schemas.microsoft.com/office/drawing/2014/main" id="{A4682038-BD1C-4F38-9B01-E2C9DBBB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1092" y="381000"/>
            <a:ext cx="249841" cy="3727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ource_HRS_right_ear_left">
            <a:extLst xmlns:a="http://schemas.openxmlformats.org/drawingml/2006/main">
              <a:ext uri="{FF2B5EF4-FFF2-40B4-BE49-F238E27FC236}">
                <a16:creationId xmlns:a16="http://schemas.microsoft.com/office/drawing/2014/main" id="{0B3AE6BC-5E86-4B29-BD94-4AE99D44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3603" y="537540"/>
            <a:ext cx="32479" cy="931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_HRS_right_ear_right">
            <a:extLst xmlns:a="http://schemas.openxmlformats.org/drawingml/2006/main">
              <a:ext uri="{FF2B5EF4-FFF2-40B4-BE49-F238E27FC236}">
                <a16:creationId xmlns:a16="http://schemas.microsoft.com/office/drawing/2014/main" id="{6A2C972C-ED5C-49F2-8162-4C892F31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5942" y="537540"/>
            <a:ext cx="32479" cy="931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ource_HRS_right_hair">
            <a:extLst xmlns:a="http://schemas.openxmlformats.org/drawingml/2006/main">
              <a:ext uri="{FF2B5EF4-FFF2-40B4-BE49-F238E27FC236}">
                <a16:creationId xmlns:a16="http://schemas.microsoft.com/office/drawing/2014/main" id="{7F0A14E4-548A-4653-8D17-C8DD8CC3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591" y="371475"/>
            <a:ext cx="244844" cy="110158"/>
          </a:xfrm>
          <a:custGeom xmlns:a="http://schemas.openxmlformats.org/drawingml/2006/main">
            <a:pathLst>
              <a:path w="244844" h="110158">
                <a:moveTo>
                  <a:pt x="0" y="110158"/>
                </a:moveTo>
                <a:lnTo>
                  <a:pt x="27482" y="31888"/>
                </a:lnTo>
                <a:lnTo>
                  <a:pt x="84946" y="0"/>
                </a:lnTo>
                <a:lnTo>
                  <a:pt x="157400" y="0"/>
                </a:lnTo>
                <a:lnTo>
                  <a:pt x="219860" y="31888"/>
                </a:lnTo>
                <a:lnTo>
                  <a:pt x="244844" y="110158"/>
                </a:lnTo>
                <a:lnTo>
                  <a:pt x="167393" y="80341"/>
                </a:lnTo>
                <a:lnTo>
                  <a:pt x="109930" y="102703"/>
                </a:lnTo>
                <a:lnTo>
                  <a:pt x="49968" y="76613"/>
                </a:lnTo>
                <a:close/>
              </a:path>
            </a:pathLst>
          </a:custGeom>
          <a:solidFill xmlns:a="http://schemas.openxmlformats.org/drawingml/2006/main">
            <a:srgbClr val="AAAA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ource_HRS_right_eye_left">
            <a:extLst xmlns:a="http://schemas.openxmlformats.org/drawingml/2006/main">
              <a:ext uri="{FF2B5EF4-FFF2-40B4-BE49-F238E27FC236}">
                <a16:creationId xmlns:a16="http://schemas.microsoft.com/office/drawing/2014/main" id="{F7C2E6D7-FA6F-4704-9338-CC498041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5341" y="55244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ource_HRS_right_eye_right">
            <a:extLst xmlns:a="http://schemas.openxmlformats.org/drawingml/2006/main">
              <a:ext uri="{FF2B5EF4-FFF2-40B4-BE49-F238E27FC236}">
                <a16:creationId xmlns:a16="http://schemas.microsoft.com/office/drawing/2014/main" id="{BECB29AA-1907-47E6-9080-654D4138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9254" y="55244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ource_HRS_right_mouth">
            <a:extLst xmlns:a="http://schemas.openxmlformats.org/drawingml/2006/main">
              <a:ext uri="{FF2B5EF4-FFF2-40B4-BE49-F238E27FC236}">
                <a16:creationId xmlns:a16="http://schemas.microsoft.com/office/drawing/2014/main" id="{858DCFB3-E747-4ACD-BF19-501E8F82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961" y="664262"/>
            <a:ext cx="58103" cy="953"/>
          </a:xfrm>
          <a:custGeom xmlns:a="http://schemas.openxmlformats.org/drawingml/2006/main">
            <a:pathLst>
              <a:path w="58103" h="953">
                <a:moveTo>
                  <a:pt x="0" y="0"/>
                </a:moveTo>
                <a:lnTo>
                  <a:pt x="581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845C48"/>
            </a:solidFill>
            <a:prstDash val="solid"/>
          </a:ln>
        </p:spPr>
      </p:sp>
      <p:sp>
        <p:nvSpPr>
          <p:cNvPr id="22" name="source_HRS_right_glasses_left">
            <a:extLst xmlns:a="http://schemas.openxmlformats.org/drawingml/2006/main">
              <a:ext uri="{FF2B5EF4-FFF2-40B4-BE49-F238E27FC236}">
                <a16:creationId xmlns:a16="http://schemas.microsoft.com/office/drawing/2014/main" id="{CBF5A6CC-CF45-443A-A7EF-63B43FAF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98859" y="518904"/>
            <a:ext cx="81344" cy="93178"/>
          </a:xfrm>
          <a:prstGeom xmlns:a="http://schemas.openxmlformats.org/drawingml/2006/main" prst="roundRect">
            <a:avLst>
              <a:gd name="adj" fmla="val 3512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4F5559"/>
            </a:solidFill>
            <a:prstDash val="solid"/>
          </a:ln>
        </p:spPr>
      </p:sp>
      <p:sp>
        <p:nvSpPr>
          <p:cNvPr id="23" name="source_HRS_right_glasses_right">
            <a:extLst xmlns:a="http://schemas.openxmlformats.org/drawingml/2006/main">
              <a:ext uri="{FF2B5EF4-FFF2-40B4-BE49-F238E27FC236}">
                <a16:creationId xmlns:a16="http://schemas.microsoft.com/office/drawing/2014/main" id="{EB293034-9606-41E9-93BF-FE7A483B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1823" y="518904"/>
            <a:ext cx="81344" cy="93178"/>
          </a:xfrm>
          <a:prstGeom xmlns:a="http://schemas.openxmlformats.org/drawingml/2006/main" prst="roundRect">
            <a:avLst>
              <a:gd name="adj" fmla="val 3512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4F5559"/>
            </a:solidFill>
            <a:prstDash val="solid"/>
          </a:ln>
        </p:spPr>
      </p:sp>
      <p:sp>
        <p:nvSpPr>
          <p:cNvPr id="24" name="source_HRS_right_glasses_bridge">
            <a:extLst xmlns:a="http://schemas.openxmlformats.org/drawingml/2006/main">
              <a:ext uri="{FF2B5EF4-FFF2-40B4-BE49-F238E27FC236}">
                <a16:creationId xmlns:a16="http://schemas.microsoft.com/office/drawing/2014/main" id="{DC10121E-8C21-4914-B045-8E732C11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202" y="563629"/>
            <a:ext cx="11621" cy="953"/>
          </a:xfrm>
          <a:custGeom xmlns:a="http://schemas.openxmlformats.org/drawingml/2006/main">
            <a:pathLst>
              <a:path w="11621" h="953">
                <a:moveTo>
                  <a:pt x="0" y="0"/>
                </a:moveTo>
                <a:lnTo>
                  <a:pt x="116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4F5559"/>
            </a:solidFill>
            <a:prstDash val="solid"/>
          </a:ln>
        </p:spPr>
      </p:sp>
      <p:sp>
        <p:nvSpPr>
          <p:cNvPr id="25" name="source_HRS_middle_shoulders">
            <a:extLst xmlns:a="http://schemas.openxmlformats.org/drawingml/2006/main">
              <a:ext uri="{FF2B5EF4-FFF2-40B4-BE49-F238E27FC236}">
                <a16:creationId xmlns:a16="http://schemas.microsoft.com/office/drawing/2014/main" id="{B843CA24-72F7-4E55-8185-D539BA61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907542"/>
            <a:ext cx="647700" cy="359283"/>
          </a:xfrm>
          <a:custGeom xmlns:a="http://schemas.openxmlformats.org/drawingml/2006/main">
            <a:pathLst>
              <a:path w="647700" h="359283">
                <a:moveTo>
                  <a:pt x="0" y="359283"/>
                </a:moveTo>
                <a:lnTo>
                  <a:pt x="0" y="140589"/>
                </a:lnTo>
                <a:lnTo>
                  <a:pt x="77724" y="46863"/>
                </a:lnTo>
                <a:lnTo>
                  <a:pt x="233172" y="0"/>
                </a:lnTo>
                <a:lnTo>
                  <a:pt x="414528" y="0"/>
                </a:lnTo>
                <a:lnTo>
                  <a:pt x="569976" y="46863"/>
                </a:lnTo>
                <a:lnTo>
                  <a:pt x="647700" y="140589"/>
                </a:lnTo>
                <a:lnTo>
                  <a:pt x="647700" y="359283"/>
                </a:lnTo>
                <a:close/>
              </a:path>
            </a:pathLst>
          </a:cu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ource_HRS_middle_neck">
            <a:extLst xmlns:a="http://schemas.openxmlformats.org/drawingml/2006/main">
              <a:ext uri="{FF2B5EF4-FFF2-40B4-BE49-F238E27FC236}">
                <a16:creationId xmlns:a16="http://schemas.microsoft.com/office/drawing/2014/main" id="{BED0749F-5543-468C-A8D9-00E46514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9748" y="798195"/>
            <a:ext cx="97155" cy="132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B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ource_HRS_middle_head">
            <a:extLst xmlns:a="http://schemas.openxmlformats.org/drawingml/2006/main">
              <a:ext uri="{FF2B5EF4-FFF2-40B4-BE49-F238E27FC236}">
                <a16:creationId xmlns:a16="http://schemas.microsoft.com/office/drawing/2014/main" id="{1B9A6523-5D92-449E-90EE-85B70EC6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9070" y="485775"/>
            <a:ext cx="278511" cy="3358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B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ource_HRS_middle_ear_left">
            <a:extLst xmlns:a="http://schemas.openxmlformats.org/drawingml/2006/main">
              <a:ext uri="{FF2B5EF4-FFF2-40B4-BE49-F238E27FC236}">
                <a16:creationId xmlns:a16="http://schemas.microsoft.com/office/drawing/2014/main" id="{FD12AD45-D6FA-4900-BB44-E6ED7043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9574" y="626833"/>
            <a:ext cx="36206" cy="839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B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ource_HRS_middle_ear_right">
            <a:extLst xmlns:a="http://schemas.openxmlformats.org/drawingml/2006/main">
              <a:ext uri="{FF2B5EF4-FFF2-40B4-BE49-F238E27FC236}">
                <a16:creationId xmlns:a16="http://schemas.microsoft.com/office/drawing/2014/main" id="{AC581496-5FBF-404F-B558-D7334E1F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0870" y="626833"/>
            <a:ext cx="36206" cy="839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B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ource_HRS_middle_hair">
            <a:extLst xmlns:a="http://schemas.openxmlformats.org/drawingml/2006/main">
              <a:ext uri="{FF2B5EF4-FFF2-40B4-BE49-F238E27FC236}">
                <a16:creationId xmlns:a16="http://schemas.microsoft.com/office/drawing/2014/main" id="{AC65809F-AD55-4D15-8C9C-9C097AF7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855" y="476250"/>
            <a:ext cx="272941" cy="100205"/>
          </a:xfrm>
          <a:custGeom xmlns:a="http://schemas.openxmlformats.org/drawingml/2006/main">
            <a:pathLst>
              <a:path w="272941" h="100205">
                <a:moveTo>
                  <a:pt x="0" y="100205"/>
                </a:moveTo>
                <a:lnTo>
                  <a:pt x="30636" y="29676"/>
                </a:lnTo>
                <a:lnTo>
                  <a:pt x="94694" y="0"/>
                </a:lnTo>
                <a:lnTo>
                  <a:pt x="175462" y="0"/>
                </a:lnTo>
                <a:lnTo>
                  <a:pt x="245090" y="29676"/>
                </a:lnTo>
                <a:lnTo>
                  <a:pt x="272941" y="100205"/>
                </a:lnTo>
                <a:lnTo>
                  <a:pt x="186602" y="73337"/>
                </a:lnTo>
                <a:lnTo>
                  <a:pt x="122545" y="93488"/>
                </a:lnTo>
                <a:lnTo>
                  <a:pt x="55702" y="69978"/>
                </a:lnTo>
                <a:close/>
              </a:path>
            </a:pathLst>
          </a:custGeom>
          <a:solidFill xmlns:a="http://schemas.openxmlformats.org/drawingml/2006/main">
            <a:srgbClr val="A1A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ource_HRS_middle_eye_left">
            <a:extLst xmlns:a="http://schemas.openxmlformats.org/drawingml/2006/main">
              <a:ext uri="{FF2B5EF4-FFF2-40B4-BE49-F238E27FC236}">
                <a16:creationId xmlns:a16="http://schemas.microsoft.com/office/drawing/2014/main" id="{3B05CEB6-E814-4B1B-BA39-7AE8CF88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2986" y="64026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ource_HRS_middle_eye_right">
            <a:extLst xmlns:a="http://schemas.openxmlformats.org/drawingml/2006/main">
              <a:ext uri="{FF2B5EF4-FFF2-40B4-BE49-F238E27FC236}">
                <a16:creationId xmlns:a16="http://schemas.microsoft.com/office/drawing/2014/main" id="{1F211A85-0C2F-422E-9D9E-C6451D93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4233" y="64026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ource_HRS_middle_mouth">
            <a:extLst xmlns:a="http://schemas.openxmlformats.org/drawingml/2006/main">
              <a:ext uri="{FF2B5EF4-FFF2-40B4-BE49-F238E27FC236}">
                <a16:creationId xmlns:a16="http://schemas.microsoft.com/office/drawing/2014/main" id="{D73C60D3-7999-4D91-8AD6-9A3A19F5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940" y="741022"/>
            <a:ext cx="64770" cy="953"/>
          </a:xfrm>
          <a:custGeom xmlns:a="http://schemas.openxmlformats.org/drawingml/2006/main">
            <a:pathLst>
              <a:path w="64770" h="953">
                <a:moveTo>
                  <a:pt x="0" y="0"/>
                </a:moveTo>
                <a:lnTo>
                  <a:pt x="647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845C48"/>
            </a:solidFill>
            <a:prstDash val="solid"/>
          </a:ln>
        </p:spPr>
      </p:sp>
      <p:sp>
        <p:nvSpPr>
          <p:cNvPr id="34" name="source_HRS_divider">
            <a:extLst xmlns:a="http://schemas.openxmlformats.org/drawingml/2006/main">
              <a:ext uri="{FF2B5EF4-FFF2-40B4-BE49-F238E27FC236}">
                <a16:creationId xmlns:a16="http://schemas.microsoft.com/office/drawing/2014/main" id="{DF899877-1A5E-4B13-97B8-29C00E60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7175"/>
            <a:ext cx="953" cy="1066800"/>
          </a:xfrm>
          <a:custGeom xmlns:a="http://schemas.openxmlformats.org/drawingml/2006/main">
            <a:pathLst>
              <a:path w="953" h="1066800">
                <a:moveTo>
                  <a:pt x="0" y="0"/>
                </a:moveTo>
                <a:lnTo>
                  <a:pt x="0" y="1066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79199"/>
            </a:solidFill>
            <a:prstDash val="solid"/>
          </a:ln>
        </p:spPr>
      </p:sp>
      <p:sp>
        <p:nvSpPr>
          <p:cNvPr id="35" name="source_HRS_name">
            <a:extLst xmlns:a="http://schemas.openxmlformats.org/drawingml/2006/main">
              <a:ext uri="{FF2B5EF4-FFF2-40B4-BE49-F238E27FC236}">
                <a16:creationId xmlns:a16="http://schemas.microsoft.com/office/drawing/2014/main" id="{63571FFF-0160-4B30-BBA6-777D2D31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1325" y="200025"/>
            <a:ext cx="2619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BC3C2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BC3C29"/>
                </a:solidFill>
                <a:latin typeface="Arial"/>
                <a:ea typeface="Arial"/>
                <a:cs typeface="Arial"/>
              </a:rPr>
              <a:t>HRS</a:t>
            </a:r>
          </a:p>
        </p:txBody>
      </p:sp>
      <p:sp>
        <p:nvSpPr>
          <p:cNvPr id="36" name="source_HRS_region">
            <a:extLst xmlns:a="http://schemas.openxmlformats.org/drawingml/2006/main">
              <a:ext uri="{FF2B5EF4-FFF2-40B4-BE49-F238E27FC236}">
                <a16:creationId xmlns:a16="http://schemas.microsoft.com/office/drawing/2014/main" id="{346F0CB0-DAC7-46D8-A228-1094AAEB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1325" y="619125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United States</a:t>
            </a:r>
          </a:p>
        </p:txBody>
      </p:sp>
      <p:sp>
        <p:nvSpPr>
          <p:cNvPr id="37" name="source_HRS_dates">
            <a:extLst xmlns:a="http://schemas.openxmlformats.org/drawingml/2006/main">
              <a:ext uri="{FF2B5EF4-FFF2-40B4-BE49-F238E27FC236}">
                <a16:creationId xmlns:a16="http://schemas.microsoft.com/office/drawing/2014/main" id="{4FB0E168-58CC-400E-BFD5-B782A415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1325" y="98107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2012–2022</a:t>
            </a:r>
          </a:p>
        </p:txBody>
      </p:sp>
      <p:sp>
        <p:nvSpPr>
          <p:cNvPr id="38" name="source_SHARE_left_shoulders">
            <a:extLst xmlns:a="http://schemas.openxmlformats.org/drawingml/2006/main">
              <a:ext uri="{FF2B5EF4-FFF2-40B4-BE49-F238E27FC236}">
                <a16:creationId xmlns:a16="http://schemas.microsoft.com/office/drawing/2014/main" id="{6988E790-BDCC-475D-9FD0-D4FEC56E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849059"/>
            <a:ext cx="581025" cy="398717"/>
          </a:xfrm>
          <a:custGeom xmlns:a="http://schemas.openxmlformats.org/drawingml/2006/main">
            <a:pathLst>
              <a:path w="581025" h="398717">
                <a:moveTo>
                  <a:pt x="0" y="398717"/>
                </a:moveTo>
                <a:lnTo>
                  <a:pt x="0" y="156019"/>
                </a:lnTo>
                <a:lnTo>
                  <a:pt x="69723" y="52006"/>
                </a:lnTo>
                <a:lnTo>
                  <a:pt x="209169" y="0"/>
                </a:lnTo>
                <a:lnTo>
                  <a:pt x="371856" y="0"/>
                </a:lnTo>
                <a:lnTo>
                  <a:pt x="511302" y="52006"/>
                </a:lnTo>
                <a:lnTo>
                  <a:pt x="581025" y="156019"/>
                </a:lnTo>
                <a:lnTo>
                  <a:pt x="581025" y="398717"/>
                </a:lnTo>
                <a:close/>
              </a:path>
            </a:pathLst>
          </a:cu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ource_SHARE_left_neck">
            <a:extLst xmlns:a="http://schemas.openxmlformats.org/drawingml/2006/main">
              <a:ext uri="{FF2B5EF4-FFF2-40B4-BE49-F238E27FC236}">
                <a16:creationId xmlns:a16="http://schemas.microsoft.com/office/drawing/2014/main" id="{5B526494-FD15-45BC-B9D6-EF848A33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186" y="727710"/>
            <a:ext cx="87154" cy="147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D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ource_SHARE_left_head">
            <a:extLst xmlns:a="http://schemas.openxmlformats.org/drawingml/2006/main">
              <a:ext uri="{FF2B5EF4-FFF2-40B4-BE49-F238E27FC236}">
                <a16:creationId xmlns:a16="http://schemas.microsoft.com/office/drawing/2014/main" id="{E26B5E96-5AD8-4A04-8546-EB4C46ED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5842" y="381000"/>
            <a:ext cx="249841" cy="3727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AD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ource_SHARE_left_ear_left">
            <a:extLst xmlns:a="http://schemas.openxmlformats.org/drawingml/2006/main">
              <a:ext uri="{FF2B5EF4-FFF2-40B4-BE49-F238E27FC236}">
                <a16:creationId xmlns:a16="http://schemas.microsoft.com/office/drawing/2014/main" id="{84FF36F8-7251-41DB-85C3-534FAE3D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8353" y="537540"/>
            <a:ext cx="32479" cy="931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AD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ource_SHARE_left_ear_right">
            <a:extLst xmlns:a="http://schemas.openxmlformats.org/drawingml/2006/main">
              <a:ext uri="{FF2B5EF4-FFF2-40B4-BE49-F238E27FC236}">
                <a16:creationId xmlns:a16="http://schemas.microsoft.com/office/drawing/2014/main" id="{B2FDC522-97CB-48C9-845E-B5694232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692" y="537540"/>
            <a:ext cx="32479" cy="931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AD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ource_SHARE_left_hair">
            <a:extLst xmlns:a="http://schemas.openxmlformats.org/drawingml/2006/main">
              <a:ext uri="{FF2B5EF4-FFF2-40B4-BE49-F238E27FC236}">
                <a16:creationId xmlns:a16="http://schemas.microsoft.com/office/drawing/2014/main" id="{0D16CB7F-E987-4E13-83C3-1FB036AC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341" y="371475"/>
            <a:ext cx="244844" cy="110158"/>
          </a:xfrm>
          <a:custGeom xmlns:a="http://schemas.openxmlformats.org/drawingml/2006/main">
            <a:pathLst>
              <a:path w="244844" h="110158">
                <a:moveTo>
                  <a:pt x="0" y="110158"/>
                </a:moveTo>
                <a:lnTo>
                  <a:pt x="27482" y="31888"/>
                </a:lnTo>
                <a:lnTo>
                  <a:pt x="84946" y="0"/>
                </a:lnTo>
                <a:lnTo>
                  <a:pt x="157400" y="0"/>
                </a:lnTo>
                <a:lnTo>
                  <a:pt x="219860" y="31888"/>
                </a:lnTo>
                <a:lnTo>
                  <a:pt x="244844" y="110158"/>
                </a:lnTo>
                <a:lnTo>
                  <a:pt x="167393" y="80341"/>
                </a:lnTo>
                <a:lnTo>
                  <a:pt x="109930" y="102703"/>
                </a:lnTo>
                <a:lnTo>
                  <a:pt x="49968" y="76613"/>
                </a:lnTo>
                <a:close/>
              </a:path>
            </a:pathLst>
          </a:custGeom>
          <a:solidFill xmlns:a="http://schemas.openxmlformats.org/drawingml/2006/main">
            <a:srgbClr val="AAAA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ource_SHARE_left_eye_left">
            <a:extLst xmlns:a="http://schemas.openxmlformats.org/drawingml/2006/main">
              <a:ext uri="{FF2B5EF4-FFF2-40B4-BE49-F238E27FC236}">
                <a16:creationId xmlns:a16="http://schemas.microsoft.com/office/drawing/2014/main" id="{0AE9A00A-CE7F-4B7A-98B9-79AEF69D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0091" y="55244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ource_SHARE_left_eye_right">
            <a:extLst xmlns:a="http://schemas.openxmlformats.org/drawingml/2006/main">
              <a:ext uri="{FF2B5EF4-FFF2-40B4-BE49-F238E27FC236}">
                <a16:creationId xmlns:a16="http://schemas.microsoft.com/office/drawing/2014/main" id="{21942DB3-3890-4679-AE94-1EC46373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4004" y="55244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ource_SHARE_left_mouth">
            <a:extLst xmlns:a="http://schemas.openxmlformats.org/drawingml/2006/main">
              <a:ext uri="{FF2B5EF4-FFF2-40B4-BE49-F238E27FC236}">
                <a16:creationId xmlns:a16="http://schemas.microsoft.com/office/drawing/2014/main" id="{636DE947-885D-4E7A-AB98-90ACE860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711" y="664262"/>
            <a:ext cx="58102" cy="953"/>
          </a:xfrm>
          <a:custGeom xmlns:a="http://schemas.openxmlformats.org/drawingml/2006/main">
            <a:pathLst>
              <a:path w="58102" h="953">
                <a:moveTo>
                  <a:pt x="0" y="0"/>
                </a:moveTo>
                <a:lnTo>
                  <a:pt x="581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845C48"/>
            </a:solidFill>
            <a:prstDash val="solid"/>
          </a:ln>
        </p:spPr>
      </p:sp>
      <p:sp>
        <p:nvSpPr>
          <p:cNvPr id="47" name="source_SHARE_left_glasses_left">
            <a:extLst xmlns:a="http://schemas.openxmlformats.org/drawingml/2006/main">
              <a:ext uri="{FF2B5EF4-FFF2-40B4-BE49-F238E27FC236}">
                <a16:creationId xmlns:a16="http://schemas.microsoft.com/office/drawing/2014/main" id="{A5B6C74E-135A-459D-A976-4E095BC4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3609" y="518904"/>
            <a:ext cx="81344" cy="93178"/>
          </a:xfrm>
          <a:prstGeom xmlns:a="http://schemas.openxmlformats.org/drawingml/2006/main" prst="roundRect">
            <a:avLst>
              <a:gd name="adj" fmla="val 3512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4F5559"/>
            </a:solidFill>
            <a:prstDash val="solid"/>
          </a:ln>
        </p:spPr>
      </p:sp>
      <p:sp>
        <p:nvSpPr>
          <p:cNvPr id="48" name="source_SHARE_left_glasses_right">
            <a:extLst xmlns:a="http://schemas.openxmlformats.org/drawingml/2006/main">
              <a:ext uri="{FF2B5EF4-FFF2-40B4-BE49-F238E27FC236}">
                <a16:creationId xmlns:a16="http://schemas.microsoft.com/office/drawing/2014/main" id="{E2694704-540F-49C6-92FF-CED38ED8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06573" y="518904"/>
            <a:ext cx="81344" cy="93178"/>
          </a:xfrm>
          <a:prstGeom xmlns:a="http://schemas.openxmlformats.org/drawingml/2006/main" prst="roundRect">
            <a:avLst>
              <a:gd name="adj" fmla="val 3512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4F5559"/>
            </a:solidFill>
            <a:prstDash val="solid"/>
          </a:ln>
        </p:spPr>
      </p:sp>
      <p:sp>
        <p:nvSpPr>
          <p:cNvPr id="49" name="source_SHARE_left_glasses_bridge">
            <a:extLst xmlns:a="http://schemas.openxmlformats.org/drawingml/2006/main">
              <a:ext uri="{FF2B5EF4-FFF2-40B4-BE49-F238E27FC236}">
                <a16:creationId xmlns:a16="http://schemas.microsoft.com/office/drawing/2014/main" id="{268573CD-C59C-4547-9B4E-091EFCFE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952" y="563629"/>
            <a:ext cx="11621" cy="953"/>
          </a:xfrm>
          <a:custGeom xmlns:a="http://schemas.openxmlformats.org/drawingml/2006/main">
            <a:pathLst>
              <a:path w="11621" h="953">
                <a:moveTo>
                  <a:pt x="0" y="0"/>
                </a:moveTo>
                <a:lnTo>
                  <a:pt x="116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4F5559"/>
            </a:solidFill>
            <a:prstDash val="solid"/>
          </a:ln>
        </p:spPr>
      </p:sp>
      <p:sp>
        <p:nvSpPr>
          <p:cNvPr id="50" name="source_SHARE_right_shoulders">
            <a:extLst xmlns:a="http://schemas.openxmlformats.org/drawingml/2006/main">
              <a:ext uri="{FF2B5EF4-FFF2-40B4-BE49-F238E27FC236}">
                <a16:creationId xmlns:a16="http://schemas.microsoft.com/office/drawing/2014/main" id="{FA8B7174-2817-415B-93E9-4A7142D9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849059"/>
            <a:ext cx="581025" cy="398717"/>
          </a:xfrm>
          <a:custGeom xmlns:a="http://schemas.openxmlformats.org/drawingml/2006/main">
            <a:pathLst>
              <a:path w="581025" h="398717">
                <a:moveTo>
                  <a:pt x="0" y="398717"/>
                </a:moveTo>
                <a:lnTo>
                  <a:pt x="0" y="156019"/>
                </a:lnTo>
                <a:lnTo>
                  <a:pt x="69723" y="52006"/>
                </a:lnTo>
                <a:lnTo>
                  <a:pt x="209169" y="0"/>
                </a:lnTo>
                <a:lnTo>
                  <a:pt x="371856" y="0"/>
                </a:lnTo>
                <a:lnTo>
                  <a:pt x="511302" y="52006"/>
                </a:lnTo>
                <a:lnTo>
                  <a:pt x="581025" y="156019"/>
                </a:lnTo>
                <a:lnTo>
                  <a:pt x="581025" y="398717"/>
                </a:lnTo>
                <a:close/>
              </a:path>
            </a:pathLst>
          </a:cu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source_SHARE_right_neck">
            <a:extLst xmlns:a="http://schemas.openxmlformats.org/drawingml/2006/main">
              <a:ext uri="{FF2B5EF4-FFF2-40B4-BE49-F238E27FC236}">
                <a16:creationId xmlns:a16="http://schemas.microsoft.com/office/drawing/2014/main" id="{F7438B0D-33DB-40D7-AAA5-15E91CB0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2561" y="727710"/>
            <a:ext cx="87154" cy="147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source_SHARE_right_head">
            <a:extLst xmlns:a="http://schemas.openxmlformats.org/drawingml/2006/main">
              <a:ext uri="{FF2B5EF4-FFF2-40B4-BE49-F238E27FC236}">
                <a16:creationId xmlns:a16="http://schemas.microsoft.com/office/drawing/2014/main" id="{329B0734-AF23-456E-B73C-EB939AE7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1217" y="381000"/>
            <a:ext cx="249841" cy="3727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ource_SHARE_right_ear_left">
            <a:extLst xmlns:a="http://schemas.openxmlformats.org/drawingml/2006/main">
              <a:ext uri="{FF2B5EF4-FFF2-40B4-BE49-F238E27FC236}">
                <a16:creationId xmlns:a16="http://schemas.microsoft.com/office/drawing/2014/main" id="{31DAD6D4-C700-4668-8353-70705F8C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3728" y="537540"/>
            <a:ext cx="32479" cy="931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source_SHARE_right_ear_right">
            <a:extLst xmlns:a="http://schemas.openxmlformats.org/drawingml/2006/main">
              <a:ext uri="{FF2B5EF4-FFF2-40B4-BE49-F238E27FC236}">
                <a16:creationId xmlns:a16="http://schemas.microsoft.com/office/drawing/2014/main" id="{20F17E94-35DF-4CED-9A37-D260325E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6067" y="537540"/>
            <a:ext cx="32479" cy="931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ource_SHARE_right_hair">
            <a:extLst xmlns:a="http://schemas.openxmlformats.org/drawingml/2006/main">
              <a:ext uri="{FF2B5EF4-FFF2-40B4-BE49-F238E27FC236}">
                <a16:creationId xmlns:a16="http://schemas.microsoft.com/office/drawing/2014/main" id="{3ACC707D-537C-4D9D-A077-31B01074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3716" y="371475"/>
            <a:ext cx="244844" cy="110158"/>
          </a:xfrm>
          <a:custGeom xmlns:a="http://schemas.openxmlformats.org/drawingml/2006/main">
            <a:pathLst>
              <a:path w="244844" h="110158">
                <a:moveTo>
                  <a:pt x="0" y="110158"/>
                </a:moveTo>
                <a:lnTo>
                  <a:pt x="27482" y="31888"/>
                </a:lnTo>
                <a:lnTo>
                  <a:pt x="84946" y="0"/>
                </a:lnTo>
                <a:lnTo>
                  <a:pt x="157400" y="0"/>
                </a:lnTo>
                <a:lnTo>
                  <a:pt x="219860" y="31888"/>
                </a:lnTo>
                <a:lnTo>
                  <a:pt x="244844" y="110158"/>
                </a:lnTo>
                <a:lnTo>
                  <a:pt x="167393" y="80341"/>
                </a:lnTo>
                <a:lnTo>
                  <a:pt x="109930" y="102703"/>
                </a:lnTo>
                <a:lnTo>
                  <a:pt x="49968" y="76613"/>
                </a:lnTo>
                <a:close/>
              </a:path>
            </a:pathLst>
          </a:custGeom>
          <a:solidFill xmlns:a="http://schemas.openxmlformats.org/drawingml/2006/main">
            <a:srgbClr val="AAAA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source_SHARE_right_eye_left">
            <a:extLst xmlns:a="http://schemas.openxmlformats.org/drawingml/2006/main">
              <a:ext uri="{FF2B5EF4-FFF2-40B4-BE49-F238E27FC236}">
                <a16:creationId xmlns:a16="http://schemas.microsoft.com/office/drawing/2014/main" id="{E99191FB-4FE9-4E13-821B-9A616E0E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5466" y="55244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source_SHARE_right_eye_right">
            <a:extLst xmlns:a="http://schemas.openxmlformats.org/drawingml/2006/main">
              <a:ext uri="{FF2B5EF4-FFF2-40B4-BE49-F238E27FC236}">
                <a16:creationId xmlns:a16="http://schemas.microsoft.com/office/drawing/2014/main" id="{B16BB7BC-D3E6-4987-9053-0780CE82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9379" y="55244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source_SHARE_right_mouth">
            <a:extLst xmlns:a="http://schemas.openxmlformats.org/drawingml/2006/main">
              <a:ext uri="{FF2B5EF4-FFF2-40B4-BE49-F238E27FC236}">
                <a16:creationId xmlns:a16="http://schemas.microsoft.com/office/drawing/2014/main" id="{7CA94840-061A-4E52-AAC3-C2816CC0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7086" y="664262"/>
            <a:ext cx="58102" cy="953"/>
          </a:xfrm>
          <a:custGeom xmlns:a="http://schemas.openxmlformats.org/drawingml/2006/main">
            <a:pathLst>
              <a:path w="58102" h="953">
                <a:moveTo>
                  <a:pt x="0" y="0"/>
                </a:moveTo>
                <a:lnTo>
                  <a:pt x="581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845C48"/>
            </a:solidFill>
            <a:prstDash val="solid"/>
          </a:ln>
        </p:spPr>
      </p:sp>
      <p:sp>
        <p:nvSpPr>
          <p:cNvPr id="59" name="source_SHARE_right_glasses_left">
            <a:extLst xmlns:a="http://schemas.openxmlformats.org/drawingml/2006/main">
              <a:ext uri="{FF2B5EF4-FFF2-40B4-BE49-F238E27FC236}">
                <a16:creationId xmlns:a16="http://schemas.microsoft.com/office/drawing/2014/main" id="{455FECE9-47B8-4D86-8168-2B5F9D5D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8984" y="518904"/>
            <a:ext cx="81344" cy="93178"/>
          </a:xfrm>
          <a:prstGeom xmlns:a="http://schemas.openxmlformats.org/drawingml/2006/main" prst="roundRect">
            <a:avLst>
              <a:gd name="adj" fmla="val 3512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4F5559"/>
            </a:solidFill>
            <a:prstDash val="solid"/>
          </a:ln>
        </p:spPr>
      </p:sp>
      <p:sp>
        <p:nvSpPr>
          <p:cNvPr id="60" name="source_SHARE_right_glasses_right">
            <a:extLst xmlns:a="http://schemas.openxmlformats.org/drawingml/2006/main">
              <a:ext uri="{FF2B5EF4-FFF2-40B4-BE49-F238E27FC236}">
                <a16:creationId xmlns:a16="http://schemas.microsoft.com/office/drawing/2014/main" id="{BF8B926A-CEE3-4B18-A8AC-F7ABAA85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1948" y="518904"/>
            <a:ext cx="81344" cy="93178"/>
          </a:xfrm>
          <a:prstGeom xmlns:a="http://schemas.openxmlformats.org/drawingml/2006/main" prst="roundRect">
            <a:avLst>
              <a:gd name="adj" fmla="val 3512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4F5559"/>
            </a:solidFill>
            <a:prstDash val="solid"/>
          </a:ln>
        </p:spPr>
      </p:sp>
      <p:sp>
        <p:nvSpPr>
          <p:cNvPr id="61" name="source_SHARE_right_glasses_bridge">
            <a:extLst xmlns:a="http://schemas.openxmlformats.org/drawingml/2006/main">
              <a:ext uri="{FF2B5EF4-FFF2-40B4-BE49-F238E27FC236}">
                <a16:creationId xmlns:a16="http://schemas.microsoft.com/office/drawing/2014/main" id="{E33BDEA6-9354-4A2E-A600-B7E128B9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0327" y="563629"/>
            <a:ext cx="11621" cy="953"/>
          </a:xfrm>
          <a:custGeom xmlns:a="http://schemas.openxmlformats.org/drawingml/2006/main">
            <a:pathLst>
              <a:path w="11621" h="953">
                <a:moveTo>
                  <a:pt x="0" y="0"/>
                </a:moveTo>
                <a:lnTo>
                  <a:pt x="116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4F5559"/>
            </a:solidFill>
            <a:prstDash val="solid"/>
          </a:ln>
        </p:spPr>
      </p:sp>
      <p:sp>
        <p:nvSpPr>
          <p:cNvPr id="62" name="source_SHARE_middle_shoulders">
            <a:extLst xmlns:a="http://schemas.openxmlformats.org/drawingml/2006/main">
              <a:ext uri="{FF2B5EF4-FFF2-40B4-BE49-F238E27FC236}">
                <a16:creationId xmlns:a16="http://schemas.microsoft.com/office/drawing/2014/main" id="{4E5D4465-8646-4D6D-BF31-29771F1C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907542"/>
            <a:ext cx="647700" cy="359283"/>
          </a:xfrm>
          <a:custGeom xmlns:a="http://schemas.openxmlformats.org/drawingml/2006/main">
            <a:pathLst>
              <a:path w="647700" h="359283">
                <a:moveTo>
                  <a:pt x="0" y="359283"/>
                </a:moveTo>
                <a:lnTo>
                  <a:pt x="0" y="140589"/>
                </a:lnTo>
                <a:lnTo>
                  <a:pt x="77724" y="46863"/>
                </a:lnTo>
                <a:lnTo>
                  <a:pt x="233172" y="0"/>
                </a:lnTo>
                <a:lnTo>
                  <a:pt x="414528" y="0"/>
                </a:lnTo>
                <a:lnTo>
                  <a:pt x="569976" y="46863"/>
                </a:lnTo>
                <a:lnTo>
                  <a:pt x="647700" y="140589"/>
                </a:lnTo>
                <a:lnTo>
                  <a:pt x="647700" y="359283"/>
                </a:lnTo>
                <a:close/>
              </a:path>
            </a:pathLst>
          </a:cu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source_SHARE_middle_neck">
            <a:extLst xmlns:a="http://schemas.openxmlformats.org/drawingml/2006/main">
              <a:ext uri="{FF2B5EF4-FFF2-40B4-BE49-F238E27FC236}">
                <a16:creationId xmlns:a16="http://schemas.microsoft.com/office/drawing/2014/main" id="{A9B4EC23-5EB9-491A-93E2-55FE8C05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9873" y="798195"/>
            <a:ext cx="97155" cy="132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B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source_SHARE_middle_head">
            <a:extLst xmlns:a="http://schemas.openxmlformats.org/drawingml/2006/main">
              <a:ext uri="{FF2B5EF4-FFF2-40B4-BE49-F238E27FC236}">
                <a16:creationId xmlns:a16="http://schemas.microsoft.com/office/drawing/2014/main" id="{CB8C9B37-4BE0-49B6-B648-8282CD86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9195" y="485775"/>
            <a:ext cx="278511" cy="3358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B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source_SHARE_middle_ear_left">
            <a:extLst xmlns:a="http://schemas.openxmlformats.org/drawingml/2006/main">
              <a:ext uri="{FF2B5EF4-FFF2-40B4-BE49-F238E27FC236}">
                <a16:creationId xmlns:a16="http://schemas.microsoft.com/office/drawing/2014/main" id="{FE115A0A-46BD-464B-A035-0D7503C6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9699" y="626833"/>
            <a:ext cx="36206" cy="839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B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source_SHARE_middle_ear_right">
            <a:extLst xmlns:a="http://schemas.openxmlformats.org/drawingml/2006/main">
              <a:ext uri="{FF2B5EF4-FFF2-40B4-BE49-F238E27FC236}">
                <a16:creationId xmlns:a16="http://schemas.microsoft.com/office/drawing/2014/main" id="{5B2A8929-18B1-4456-8917-E3B445E7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0995" y="626833"/>
            <a:ext cx="36206" cy="839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B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source_SHARE_middle_hair">
            <a:extLst xmlns:a="http://schemas.openxmlformats.org/drawingml/2006/main">
              <a:ext uri="{FF2B5EF4-FFF2-40B4-BE49-F238E27FC236}">
                <a16:creationId xmlns:a16="http://schemas.microsoft.com/office/drawing/2014/main" id="{A24CBB31-E114-4549-A42A-18A3541B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1980" y="476250"/>
            <a:ext cx="272941" cy="100205"/>
          </a:xfrm>
          <a:custGeom xmlns:a="http://schemas.openxmlformats.org/drawingml/2006/main">
            <a:pathLst>
              <a:path w="272941" h="100205">
                <a:moveTo>
                  <a:pt x="0" y="100205"/>
                </a:moveTo>
                <a:lnTo>
                  <a:pt x="30636" y="29676"/>
                </a:lnTo>
                <a:lnTo>
                  <a:pt x="94694" y="0"/>
                </a:lnTo>
                <a:lnTo>
                  <a:pt x="175462" y="0"/>
                </a:lnTo>
                <a:lnTo>
                  <a:pt x="245090" y="29676"/>
                </a:lnTo>
                <a:lnTo>
                  <a:pt x="272941" y="100205"/>
                </a:lnTo>
                <a:lnTo>
                  <a:pt x="186602" y="73337"/>
                </a:lnTo>
                <a:lnTo>
                  <a:pt x="122545" y="93488"/>
                </a:lnTo>
                <a:lnTo>
                  <a:pt x="55702" y="69978"/>
                </a:lnTo>
                <a:close/>
              </a:path>
            </a:pathLst>
          </a:custGeom>
          <a:solidFill xmlns:a="http://schemas.openxmlformats.org/drawingml/2006/main">
            <a:srgbClr val="A1A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source_SHARE_middle_eye_left">
            <a:extLst xmlns:a="http://schemas.openxmlformats.org/drawingml/2006/main">
              <a:ext uri="{FF2B5EF4-FFF2-40B4-BE49-F238E27FC236}">
                <a16:creationId xmlns:a16="http://schemas.microsoft.com/office/drawing/2014/main" id="{62C96D8C-9F79-4CC7-A008-E3888705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3111" y="64026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source_SHARE_middle_eye_right">
            <a:extLst xmlns:a="http://schemas.openxmlformats.org/drawingml/2006/main">
              <a:ext uri="{FF2B5EF4-FFF2-40B4-BE49-F238E27FC236}">
                <a16:creationId xmlns:a16="http://schemas.microsoft.com/office/drawing/2014/main" id="{3FA60EED-0981-47F1-9D19-A5EA6E76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4358" y="64026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source_SHARE_middle_mouth">
            <a:extLst xmlns:a="http://schemas.openxmlformats.org/drawingml/2006/main">
              <a:ext uri="{FF2B5EF4-FFF2-40B4-BE49-F238E27FC236}">
                <a16:creationId xmlns:a16="http://schemas.microsoft.com/office/drawing/2014/main" id="{907FBA0D-E5E8-47A3-9479-8DE267E2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065" y="741022"/>
            <a:ext cx="64770" cy="953"/>
          </a:xfrm>
          <a:custGeom xmlns:a="http://schemas.openxmlformats.org/drawingml/2006/main">
            <a:pathLst>
              <a:path w="64770" h="953">
                <a:moveTo>
                  <a:pt x="0" y="0"/>
                </a:moveTo>
                <a:lnTo>
                  <a:pt x="647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845C48"/>
            </a:solidFill>
            <a:prstDash val="solid"/>
          </a:ln>
        </p:spPr>
      </p:sp>
      <p:sp>
        <p:nvSpPr>
          <p:cNvPr id="71" name="source_SHARE_divider">
            <a:extLst xmlns:a="http://schemas.openxmlformats.org/drawingml/2006/main">
              <a:ext uri="{FF2B5EF4-FFF2-40B4-BE49-F238E27FC236}">
                <a16:creationId xmlns:a16="http://schemas.microsoft.com/office/drawing/2014/main" id="{5C3E2780-C913-48E1-9D0D-D8F8339B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57175"/>
            <a:ext cx="953" cy="1066800"/>
          </a:xfrm>
          <a:custGeom xmlns:a="http://schemas.openxmlformats.org/drawingml/2006/main">
            <a:pathLst>
              <a:path w="953" h="1066800">
                <a:moveTo>
                  <a:pt x="0" y="0"/>
                </a:moveTo>
                <a:lnTo>
                  <a:pt x="0" y="1066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79199"/>
            </a:solidFill>
            <a:prstDash val="solid"/>
          </a:ln>
        </p:spPr>
      </p:sp>
      <p:sp>
        <p:nvSpPr>
          <p:cNvPr id="72" name="source_SHARE_name">
            <a:extLst xmlns:a="http://schemas.openxmlformats.org/drawingml/2006/main">
              <a:ext uri="{FF2B5EF4-FFF2-40B4-BE49-F238E27FC236}">
                <a16:creationId xmlns:a16="http://schemas.microsoft.com/office/drawing/2014/main" id="{2AA3EBC7-38FC-415D-B03A-B7DA3360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1450" y="200025"/>
            <a:ext cx="2619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72B5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72B5"/>
                </a:solidFill>
                <a:latin typeface="Arial"/>
                <a:ea typeface="Arial"/>
                <a:cs typeface="Arial"/>
              </a:rPr>
              <a:t>SHARE</a:t>
            </a:r>
          </a:p>
        </p:txBody>
      </p:sp>
      <p:sp>
        <p:nvSpPr>
          <p:cNvPr id="73" name="source_SHARE_region">
            <a:extLst xmlns:a="http://schemas.openxmlformats.org/drawingml/2006/main">
              <a:ext uri="{FF2B5EF4-FFF2-40B4-BE49-F238E27FC236}">
                <a16:creationId xmlns:a16="http://schemas.microsoft.com/office/drawing/2014/main" id="{55FBA32E-AD48-455E-AE4F-6E2B5280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1450" y="619125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Europe and Israel</a:t>
            </a:r>
          </a:p>
        </p:txBody>
      </p:sp>
      <p:sp>
        <p:nvSpPr>
          <p:cNvPr id="74" name="source_SHARE_dates">
            <a:extLst xmlns:a="http://schemas.openxmlformats.org/drawingml/2006/main">
              <a:ext uri="{FF2B5EF4-FFF2-40B4-BE49-F238E27FC236}">
                <a16:creationId xmlns:a16="http://schemas.microsoft.com/office/drawing/2014/main" id="{E481B101-1D42-4E95-88EF-7AC0BB29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1450" y="98107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W5–W6 | W8–W9</a:t>
            </a:r>
          </a:p>
        </p:txBody>
      </p:sp>
      <p:sp>
        <p:nvSpPr>
          <p:cNvPr id="75" name="source_CHARLS_left_shoulders">
            <a:extLst xmlns:a="http://schemas.openxmlformats.org/drawingml/2006/main">
              <a:ext uri="{FF2B5EF4-FFF2-40B4-BE49-F238E27FC236}">
                <a16:creationId xmlns:a16="http://schemas.microsoft.com/office/drawing/2014/main" id="{F75A4D9B-F64E-4E1E-802B-40C365FD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49059"/>
            <a:ext cx="581025" cy="398717"/>
          </a:xfrm>
          <a:custGeom xmlns:a="http://schemas.openxmlformats.org/drawingml/2006/main">
            <a:pathLst>
              <a:path w="581025" h="398717">
                <a:moveTo>
                  <a:pt x="0" y="398717"/>
                </a:moveTo>
                <a:lnTo>
                  <a:pt x="0" y="156019"/>
                </a:lnTo>
                <a:lnTo>
                  <a:pt x="69723" y="52006"/>
                </a:lnTo>
                <a:lnTo>
                  <a:pt x="209169" y="0"/>
                </a:lnTo>
                <a:lnTo>
                  <a:pt x="371856" y="0"/>
                </a:lnTo>
                <a:lnTo>
                  <a:pt x="511302" y="52006"/>
                </a:lnTo>
                <a:lnTo>
                  <a:pt x="581025" y="156019"/>
                </a:lnTo>
                <a:lnTo>
                  <a:pt x="581025" y="398717"/>
                </a:lnTo>
                <a:close/>
              </a:path>
            </a:pathLst>
          </a:custGeom>
          <a:solidFill xmlns:a="http://schemas.openxmlformats.org/drawingml/2006/main">
            <a:srgbClr val="E187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source_CHARLS_left_neck">
            <a:extLst xmlns:a="http://schemas.openxmlformats.org/drawingml/2006/main">
              <a:ext uri="{FF2B5EF4-FFF2-40B4-BE49-F238E27FC236}">
                <a16:creationId xmlns:a16="http://schemas.microsoft.com/office/drawing/2014/main" id="{A597E5F3-6B57-4E8C-82B6-C7BD7F9A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24436" y="727710"/>
            <a:ext cx="87154" cy="147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D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source_CHARLS_left_head">
            <a:extLst xmlns:a="http://schemas.openxmlformats.org/drawingml/2006/main">
              <a:ext uri="{FF2B5EF4-FFF2-40B4-BE49-F238E27FC236}">
                <a16:creationId xmlns:a16="http://schemas.microsoft.com/office/drawing/2014/main" id="{835CFBE5-FA00-4929-AF9C-23A189C7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3092" y="381000"/>
            <a:ext cx="249841" cy="3727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AD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source_CHARLS_left_ear_left">
            <a:extLst xmlns:a="http://schemas.openxmlformats.org/drawingml/2006/main">
              <a:ext uri="{FF2B5EF4-FFF2-40B4-BE49-F238E27FC236}">
                <a16:creationId xmlns:a16="http://schemas.microsoft.com/office/drawing/2014/main" id="{0665949A-2E3A-4714-824F-C17C7372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5603" y="537540"/>
            <a:ext cx="32479" cy="931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AD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source_CHARLS_left_ear_right">
            <a:extLst xmlns:a="http://schemas.openxmlformats.org/drawingml/2006/main">
              <a:ext uri="{FF2B5EF4-FFF2-40B4-BE49-F238E27FC236}">
                <a16:creationId xmlns:a16="http://schemas.microsoft.com/office/drawing/2014/main" id="{FFED0F36-BAEA-4075-AA60-02528CC6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77942" y="537540"/>
            <a:ext cx="32479" cy="931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AD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source_CHARLS_left_hair">
            <a:extLst xmlns:a="http://schemas.openxmlformats.org/drawingml/2006/main">
              <a:ext uri="{FF2B5EF4-FFF2-40B4-BE49-F238E27FC236}">
                <a16:creationId xmlns:a16="http://schemas.microsoft.com/office/drawing/2014/main" id="{936A07CE-9138-4461-AF9A-C0732F90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591" y="371475"/>
            <a:ext cx="244844" cy="110158"/>
          </a:xfrm>
          <a:custGeom xmlns:a="http://schemas.openxmlformats.org/drawingml/2006/main">
            <a:pathLst>
              <a:path w="244844" h="110158">
                <a:moveTo>
                  <a:pt x="0" y="110158"/>
                </a:moveTo>
                <a:lnTo>
                  <a:pt x="27482" y="31888"/>
                </a:lnTo>
                <a:lnTo>
                  <a:pt x="84946" y="0"/>
                </a:lnTo>
                <a:lnTo>
                  <a:pt x="157400" y="0"/>
                </a:lnTo>
                <a:lnTo>
                  <a:pt x="219860" y="31888"/>
                </a:lnTo>
                <a:lnTo>
                  <a:pt x="244844" y="110158"/>
                </a:lnTo>
                <a:lnTo>
                  <a:pt x="167393" y="80341"/>
                </a:lnTo>
                <a:lnTo>
                  <a:pt x="109930" y="102703"/>
                </a:lnTo>
                <a:lnTo>
                  <a:pt x="49968" y="76613"/>
                </a:lnTo>
                <a:close/>
              </a:path>
            </a:pathLst>
          </a:custGeom>
          <a:solidFill xmlns:a="http://schemas.openxmlformats.org/drawingml/2006/main">
            <a:srgbClr val="AAAA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source_CHARLS_left_eye_left">
            <a:extLst xmlns:a="http://schemas.openxmlformats.org/drawingml/2006/main">
              <a:ext uri="{FF2B5EF4-FFF2-40B4-BE49-F238E27FC236}">
                <a16:creationId xmlns:a16="http://schemas.microsoft.com/office/drawing/2014/main" id="{BFBFB4D2-B88C-48A8-89BA-7A58BA8D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27341" y="55244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source_CHARLS_left_eye_right">
            <a:extLst xmlns:a="http://schemas.openxmlformats.org/drawingml/2006/main">
              <a:ext uri="{FF2B5EF4-FFF2-40B4-BE49-F238E27FC236}">
                <a16:creationId xmlns:a16="http://schemas.microsoft.com/office/drawing/2014/main" id="{C4E6FF8A-D26F-40CE-8A84-FC241640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1254" y="55244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source_CHARLS_left_mouth">
            <a:extLst xmlns:a="http://schemas.openxmlformats.org/drawingml/2006/main">
              <a:ext uri="{FF2B5EF4-FFF2-40B4-BE49-F238E27FC236}">
                <a16:creationId xmlns:a16="http://schemas.microsoft.com/office/drawing/2014/main" id="{32BC2961-FDB4-40E7-8B6F-450DC8F0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8961" y="664262"/>
            <a:ext cx="58102" cy="953"/>
          </a:xfrm>
          <a:custGeom xmlns:a="http://schemas.openxmlformats.org/drawingml/2006/main">
            <a:pathLst>
              <a:path w="58102" h="953">
                <a:moveTo>
                  <a:pt x="0" y="0"/>
                </a:moveTo>
                <a:lnTo>
                  <a:pt x="581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845C48"/>
            </a:solidFill>
            <a:prstDash val="solid"/>
          </a:ln>
        </p:spPr>
      </p:sp>
      <p:sp>
        <p:nvSpPr>
          <p:cNvPr id="84" name="source_CHARLS_left_glasses_left">
            <a:extLst xmlns:a="http://schemas.openxmlformats.org/drawingml/2006/main">
              <a:ext uri="{FF2B5EF4-FFF2-40B4-BE49-F238E27FC236}">
                <a16:creationId xmlns:a16="http://schemas.microsoft.com/office/drawing/2014/main" id="{F01C200A-803E-4656-BED8-3EB63B30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0859" y="518904"/>
            <a:ext cx="81344" cy="93178"/>
          </a:xfrm>
          <a:prstGeom xmlns:a="http://schemas.openxmlformats.org/drawingml/2006/main" prst="roundRect">
            <a:avLst>
              <a:gd name="adj" fmla="val 3512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4F5559"/>
            </a:solidFill>
            <a:prstDash val="solid"/>
          </a:ln>
        </p:spPr>
      </p:sp>
      <p:sp>
        <p:nvSpPr>
          <p:cNvPr id="85" name="source_CHARLS_left_glasses_right">
            <a:extLst xmlns:a="http://schemas.openxmlformats.org/drawingml/2006/main">
              <a:ext uri="{FF2B5EF4-FFF2-40B4-BE49-F238E27FC236}">
                <a16:creationId xmlns:a16="http://schemas.microsoft.com/office/drawing/2014/main" id="{1631F73F-7400-4508-9008-CB5D26D3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73823" y="518904"/>
            <a:ext cx="81344" cy="93178"/>
          </a:xfrm>
          <a:prstGeom xmlns:a="http://schemas.openxmlformats.org/drawingml/2006/main" prst="roundRect">
            <a:avLst>
              <a:gd name="adj" fmla="val 3512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4F5559"/>
            </a:solidFill>
            <a:prstDash val="solid"/>
          </a:ln>
        </p:spPr>
      </p:sp>
      <p:sp>
        <p:nvSpPr>
          <p:cNvPr id="86" name="source_CHARLS_left_glasses_bridge">
            <a:extLst xmlns:a="http://schemas.openxmlformats.org/drawingml/2006/main">
              <a:ext uri="{FF2B5EF4-FFF2-40B4-BE49-F238E27FC236}">
                <a16:creationId xmlns:a16="http://schemas.microsoft.com/office/drawing/2014/main" id="{E15EECE4-CC51-4724-9525-6A3A08B4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202" y="563629"/>
            <a:ext cx="11620" cy="953"/>
          </a:xfrm>
          <a:custGeom xmlns:a="http://schemas.openxmlformats.org/drawingml/2006/main">
            <a:pathLst>
              <a:path w="11620" h="953">
                <a:moveTo>
                  <a:pt x="0" y="0"/>
                </a:moveTo>
                <a:lnTo>
                  <a:pt x="116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4F5559"/>
            </a:solidFill>
            <a:prstDash val="solid"/>
          </a:ln>
        </p:spPr>
      </p:sp>
      <p:sp>
        <p:nvSpPr>
          <p:cNvPr id="87" name="source_CHARLS_right_shoulders">
            <a:extLst xmlns:a="http://schemas.openxmlformats.org/drawingml/2006/main">
              <a:ext uri="{FF2B5EF4-FFF2-40B4-BE49-F238E27FC236}">
                <a16:creationId xmlns:a16="http://schemas.microsoft.com/office/drawing/2014/main" id="{955D0CE4-2BBD-44C1-A7F2-1C0F3D12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849059"/>
            <a:ext cx="581025" cy="398717"/>
          </a:xfrm>
          <a:custGeom xmlns:a="http://schemas.openxmlformats.org/drawingml/2006/main">
            <a:pathLst>
              <a:path w="581025" h="398717">
                <a:moveTo>
                  <a:pt x="0" y="398717"/>
                </a:moveTo>
                <a:lnTo>
                  <a:pt x="0" y="156019"/>
                </a:lnTo>
                <a:lnTo>
                  <a:pt x="69723" y="52006"/>
                </a:lnTo>
                <a:lnTo>
                  <a:pt x="209169" y="0"/>
                </a:lnTo>
                <a:lnTo>
                  <a:pt x="371856" y="0"/>
                </a:lnTo>
                <a:lnTo>
                  <a:pt x="511302" y="52006"/>
                </a:lnTo>
                <a:lnTo>
                  <a:pt x="581025" y="156019"/>
                </a:lnTo>
                <a:lnTo>
                  <a:pt x="581025" y="398717"/>
                </a:lnTo>
                <a:close/>
              </a:path>
            </a:pathLst>
          </a:custGeom>
          <a:solidFill xmlns:a="http://schemas.openxmlformats.org/drawingml/2006/main">
            <a:srgbClr val="E187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source_CHARLS_right_neck">
            <a:extLst xmlns:a="http://schemas.openxmlformats.org/drawingml/2006/main">
              <a:ext uri="{FF2B5EF4-FFF2-40B4-BE49-F238E27FC236}">
                <a16:creationId xmlns:a16="http://schemas.microsoft.com/office/drawing/2014/main" id="{AB47A8B1-D811-4780-8907-6F1DACB3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9811" y="727710"/>
            <a:ext cx="87154" cy="147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source_CHARLS_right_head">
            <a:extLst xmlns:a="http://schemas.openxmlformats.org/drawingml/2006/main">
              <a:ext uri="{FF2B5EF4-FFF2-40B4-BE49-F238E27FC236}">
                <a16:creationId xmlns:a16="http://schemas.microsoft.com/office/drawing/2014/main" id="{83B87081-C4B8-4585-B092-DCB17536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38467" y="381000"/>
            <a:ext cx="249841" cy="3727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source_CHARLS_right_ear_left">
            <a:extLst xmlns:a="http://schemas.openxmlformats.org/drawingml/2006/main">
              <a:ext uri="{FF2B5EF4-FFF2-40B4-BE49-F238E27FC236}">
                <a16:creationId xmlns:a16="http://schemas.microsoft.com/office/drawing/2014/main" id="{965C4641-4D98-4E17-B095-FB4EAAC8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20978" y="537540"/>
            <a:ext cx="32479" cy="931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source_CHARLS_right_ear_right">
            <a:extLst xmlns:a="http://schemas.openxmlformats.org/drawingml/2006/main">
              <a:ext uri="{FF2B5EF4-FFF2-40B4-BE49-F238E27FC236}">
                <a16:creationId xmlns:a16="http://schemas.microsoft.com/office/drawing/2014/main" id="{5B805305-A67E-4242-A752-DF6311F6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73317" y="537540"/>
            <a:ext cx="32479" cy="931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source_CHARLS_right_hair">
            <a:extLst xmlns:a="http://schemas.openxmlformats.org/drawingml/2006/main">
              <a:ext uri="{FF2B5EF4-FFF2-40B4-BE49-F238E27FC236}">
                <a16:creationId xmlns:a16="http://schemas.microsoft.com/office/drawing/2014/main" id="{C7D87F92-87E8-4BD1-B4AC-289EF646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0966" y="371475"/>
            <a:ext cx="244844" cy="110158"/>
          </a:xfrm>
          <a:custGeom xmlns:a="http://schemas.openxmlformats.org/drawingml/2006/main">
            <a:pathLst>
              <a:path w="244844" h="110158">
                <a:moveTo>
                  <a:pt x="0" y="110158"/>
                </a:moveTo>
                <a:lnTo>
                  <a:pt x="27482" y="31888"/>
                </a:lnTo>
                <a:lnTo>
                  <a:pt x="84946" y="0"/>
                </a:lnTo>
                <a:lnTo>
                  <a:pt x="157400" y="0"/>
                </a:lnTo>
                <a:lnTo>
                  <a:pt x="219860" y="31888"/>
                </a:lnTo>
                <a:lnTo>
                  <a:pt x="244844" y="110158"/>
                </a:lnTo>
                <a:lnTo>
                  <a:pt x="167393" y="80341"/>
                </a:lnTo>
                <a:lnTo>
                  <a:pt x="109930" y="102703"/>
                </a:lnTo>
                <a:lnTo>
                  <a:pt x="49968" y="76613"/>
                </a:lnTo>
                <a:close/>
              </a:path>
            </a:pathLst>
          </a:custGeom>
          <a:solidFill xmlns:a="http://schemas.openxmlformats.org/drawingml/2006/main">
            <a:srgbClr val="AAAA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source_CHARLS_right_eye_left">
            <a:extLst xmlns:a="http://schemas.openxmlformats.org/drawingml/2006/main">
              <a:ext uri="{FF2B5EF4-FFF2-40B4-BE49-F238E27FC236}">
                <a16:creationId xmlns:a16="http://schemas.microsoft.com/office/drawing/2014/main" id="{2B1EFD15-001C-4F45-B09A-232E150F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2716" y="55244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source_CHARLS_right_eye_right">
            <a:extLst xmlns:a="http://schemas.openxmlformats.org/drawingml/2006/main">
              <a:ext uri="{FF2B5EF4-FFF2-40B4-BE49-F238E27FC236}">
                <a16:creationId xmlns:a16="http://schemas.microsoft.com/office/drawing/2014/main" id="{E67A21A6-C929-441D-A50B-5653B2E9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6629" y="55244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source_CHARLS_right_mouth">
            <a:extLst xmlns:a="http://schemas.openxmlformats.org/drawingml/2006/main">
              <a:ext uri="{FF2B5EF4-FFF2-40B4-BE49-F238E27FC236}">
                <a16:creationId xmlns:a16="http://schemas.microsoft.com/office/drawing/2014/main" id="{EB972C52-E552-4144-85B0-D588BF37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4336" y="664262"/>
            <a:ext cx="58102" cy="953"/>
          </a:xfrm>
          <a:custGeom xmlns:a="http://schemas.openxmlformats.org/drawingml/2006/main">
            <a:pathLst>
              <a:path w="58102" h="953">
                <a:moveTo>
                  <a:pt x="0" y="0"/>
                </a:moveTo>
                <a:lnTo>
                  <a:pt x="581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845C48"/>
            </a:solidFill>
            <a:prstDash val="solid"/>
          </a:ln>
        </p:spPr>
      </p:sp>
      <p:sp>
        <p:nvSpPr>
          <p:cNvPr id="96" name="source_CHARLS_right_glasses_left">
            <a:extLst xmlns:a="http://schemas.openxmlformats.org/drawingml/2006/main">
              <a:ext uri="{FF2B5EF4-FFF2-40B4-BE49-F238E27FC236}">
                <a16:creationId xmlns:a16="http://schemas.microsoft.com/office/drawing/2014/main" id="{11594DE9-C457-4E0D-AD53-86B21FFF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76234" y="518904"/>
            <a:ext cx="81344" cy="93178"/>
          </a:xfrm>
          <a:prstGeom xmlns:a="http://schemas.openxmlformats.org/drawingml/2006/main" prst="roundRect">
            <a:avLst>
              <a:gd name="adj" fmla="val 3512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4F5559"/>
            </a:solidFill>
            <a:prstDash val="solid"/>
          </a:ln>
        </p:spPr>
      </p:sp>
      <p:sp>
        <p:nvSpPr>
          <p:cNvPr id="97" name="source_CHARLS_right_glasses_right">
            <a:extLst xmlns:a="http://schemas.openxmlformats.org/drawingml/2006/main">
              <a:ext uri="{FF2B5EF4-FFF2-40B4-BE49-F238E27FC236}">
                <a16:creationId xmlns:a16="http://schemas.microsoft.com/office/drawing/2014/main" id="{D25D8DD6-CC6A-46F1-AB0E-5FAB199E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69198" y="518904"/>
            <a:ext cx="81344" cy="93178"/>
          </a:xfrm>
          <a:prstGeom xmlns:a="http://schemas.openxmlformats.org/drawingml/2006/main" prst="roundRect">
            <a:avLst>
              <a:gd name="adj" fmla="val 3512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4F5559"/>
            </a:solidFill>
            <a:prstDash val="solid"/>
          </a:ln>
        </p:spPr>
      </p:sp>
      <p:sp>
        <p:nvSpPr>
          <p:cNvPr id="98" name="source_CHARLS_right_glasses_bridge">
            <a:extLst xmlns:a="http://schemas.openxmlformats.org/drawingml/2006/main">
              <a:ext uri="{FF2B5EF4-FFF2-40B4-BE49-F238E27FC236}">
                <a16:creationId xmlns:a16="http://schemas.microsoft.com/office/drawing/2014/main" id="{2DD478B4-6BD1-46F4-8412-09FC1B50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577" y="563629"/>
            <a:ext cx="11620" cy="953"/>
          </a:xfrm>
          <a:custGeom xmlns:a="http://schemas.openxmlformats.org/drawingml/2006/main">
            <a:pathLst>
              <a:path w="11620" h="953">
                <a:moveTo>
                  <a:pt x="0" y="0"/>
                </a:moveTo>
                <a:lnTo>
                  <a:pt x="116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4F5559"/>
            </a:solidFill>
            <a:prstDash val="solid"/>
          </a:ln>
        </p:spPr>
      </p:sp>
      <p:sp>
        <p:nvSpPr>
          <p:cNvPr id="99" name="source_CHARLS_middle_shoulders">
            <a:extLst xmlns:a="http://schemas.openxmlformats.org/drawingml/2006/main">
              <a:ext uri="{FF2B5EF4-FFF2-40B4-BE49-F238E27FC236}">
                <a16:creationId xmlns:a16="http://schemas.microsoft.com/office/drawing/2014/main" id="{4E0C6EC9-C0F4-43DD-B718-A2997830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907542"/>
            <a:ext cx="647700" cy="359283"/>
          </a:xfrm>
          <a:custGeom xmlns:a="http://schemas.openxmlformats.org/drawingml/2006/main">
            <a:pathLst>
              <a:path w="647700" h="359283">
                <a:moveTo>
                  <a:pt x="0" y="359283"/>
                </a:moveTo>
                <a:lnTo>
                  <a:pt x="0" y="140589"/>
                </a:lnTo>
                <a:lnTo>
                  <a:pt x="77724" y="46863"/>
                </a:lnTo>
                <a:lnTo>
                  <a:pt x="233172" y="0"/>
                </a:lnTo>
                <a:lnTo>
                  <a:pt x="414528" y="0"/>
                </a:lnTo>
                <a:lnTo>
                  <a:pt x="569976" y="46863"/>
                </a:lnTo>
                <a:lnTo>
                  <a:pt x="647700" y="140589"/>
                </a:lnTo>
                <a:lnTo>
                  <a:pt x="647700" y="359283"/>
                </a:lnTo>
                <a:close/>
              </a:path>
            </a:pathLst>
          </a:custGeom>
          <a:solidFill xmlns:a="http://schemas.openxmlformats.org/drawingml/2006/main">
            <a:srgbClr val="E187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source_CHARLS_middle_neck">
            <a:extLst xmlns:a="http://schemas.openxmlformats.org/drawingml/2006/main">
              <a:ext uri="{FF2B5EF4-FFF2-40B4-BE49-F238E27FC236}">
                <a16:creationId xmlns:a16="http://schemas.microsoft.com/office/drawing/2014/main" id="{E0E1FE25-375F-437F-B9B9-FBF6A3E1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67123" y="798195"/>
            <a:ext cx="97155" cy="132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B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source_CHARLS_middle_head">
            <a:extLst xmlns:a="http://schemas.openxmlformats.org/drawingml/2006/main">
              <a:ext uri="{FF2B5EF4-FFF2-40B4-BE49-F238E27FC236}">
                <a16:creationId xmlns:a16="http://schemas.microsoft.com/office/drawing/2014/main" id="{826FB10A-C6F1-47F1-8CB8-832B771B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76445" y="485775"/>
            <a:ext cx="278511" cy="3358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B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source_CHARLS_middle_ear_left">
            <a:extLst xmlns:a="http://schemas.openxmlformats.org/drawingml/2006/main">
              <a:ext uri="{FF2B5EF4-FFF2-40B4-BE49-F238E27FC236}">
                <a16:creationId xmlns:a16="http://schemas.microsoft.com/office/drawing/2014/main" id="{49434917-CF11-4651-AC08-A95EDE38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6949" y="626833"/>
            <a:ext cx="36206" cy="839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B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source_CHARLS_middle_ear_right">
            <a:extLst xmlns:a="http://schemas.openxmlformats.org/drawingml/2006/main">
              <a:ext uri="{FF2B5EF4-FFF2-40B4-BE49-F238E27FC236}">
                <a16:creationId xmlns:a16="http://schemas.microsoft.com/office/drawing/2014/main" id="{4E85ECC1-AB3C-48BA-9C03-541C8EAE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8245" y="626833"/>
            <a:ext cx="36206" cy="839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B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source_CHARLS_middle_hair">
            <a:extLst xmlns:a="http://schemas.openxmlformats.org/drawingml/2006/main">
              <a:ext uri="{FF2B5EF4-FFF2-40B4-BE49-F238E27FC236}">
                <a16:creationId xmlns:a16="http://schemas.microsoft.com/office/drawing/2014/main" id="{9415938D-D1F2-4A3D-8239-331ED5F5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230" y="476250"/>
            <a:ext cx="272941" cy="100205"/>
          </a:xfrm>
          <a:custGeom xmlns:a="http://schemas.openxmlformats.org/drawingml/2006/main">
            <a:pathLst>
              <a:path w="272941" h="100205">
                <a:moveTo>
                  <a:pt x="0" y="100205"/>
                </a:moveTo>
                <a:lnTo>
                  <a:pt x="30636" y="29676"/>
                </a:lnTo>
                <a:lnTo>
                  <a:pt x="94694" y="0"/>
                </a:lnTo>
                <a:lnTo>
                  <a:pt x="175462" y="0"/>
                </a:lnTo>
                <a:lnTo>
                  <a:pt x="245090" y="29676"/>
                </a:lnTo>
                <a:lnTo>
                  <a:pt x="272941" y="100205"/>
                </a:lnTo>
                <a:lnTo>
                  <a:pt x="186602" y="73337"/>
                </a:lnTo>
                <a:lnTo>
                  <a:pt x="122545" y="93488"/>
                </a:lnTo>
                <a:lnTo>
                  <a:pt x="55702" y="69978"/>
                </a:lnTo>
                <a:close/>
              </a:path>
            </a:pathLst>
          </a:custGeom>
          <a:solidFill xmlns:a="http://schemas.openxmlformats.org/drawingml/2006/main">
            <a:srgbClr val="A1A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source_CHARLS_middle_eye_left">
            <a:extLst xmlns:a="http://schemas.openxmlformats.org/drawingml/2006/main">
              <a:ext uri="{FF2B5EF4-FFF2-40B4-BE49-F238E27FC236}">
                <a16:creationId xmlns:a16="http://schemas.microsoft.com/office/drawing/2014/main" id="{B42BFEFE-D138-42F1-984B-33555FCE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0361" y="64026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source_CHARLS_middle_eye_right">
            <a:extLst xmlns:a="http://schemas.openxmlformats.org/drawingml/2006/main">
              <a:ext uri="{FF2B5EF4-FFF2-40B4-BE49-F238E27FC236}">
                <a16:creationId xmlns:a16="http://schemas.microsoft.com/office/drawing/2014/main" id="{D9367A1E-7A8A-4F7C-8902-F6B860F6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41608" y="64026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35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source_CHARLS_middle_mouth">
            <a:extLst xmlns:a="http://schemas.openxmlformats.org/drawingml/2006/main">
              <a:ext uri="{FF2B5EF4-FFF2-40B4-BE49-F238E27FC236}">
                <a16:creationId xmlns:a16="http://schemas.microsoft.com/office/drawing/2014/main" id="{6EAA92B5-244F-4534-91C2-7D576EDB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315" y="741022"/>
            <a:ext cx="64770" cy="953"/>
          </a:xfrm>
          <a:custGeom xmlns:a="http://schemas.openxmlformats.org/drawingml/2006/main">
            <a:pathLst>
              <a:path w="64770" h="953">
                <a:moveTo>
                  <a:pt x="0" y="0"/>
                </a:moveTo>
                <a:lnTo>
                  <a:pt x="647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845C48"/>
            </a:solidFill>
            <a:prstDash val="solid"/>
          </a:ln>
        </p:spPr>
      </p:sp>
      <p:sp>
        <p:nvSpPr>
          <p:cNvPr id="108" name="source_CHARLS_divider">
            <a:extLst xmlns:a="http://schemas.openxmlformats.org/drawingml/2006/main">
              <a:ext uri="{FF2B5EF4-FFF2-40B4-BE49-F238E27FC236}">
                <a16:creationId xmlns:a16="http://schemas.microsoft.com/office/drawing/2014/main" id="{30CDFE8B-A912-425E-A4E1-831DDE3C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257175"/>
            <a:ext cx="953" cy="1066800"/>
          </a:xfrm>
          <a:custGeom xmlns:a="http://schemas.openxmlformats.org/drawingml/2006/main">
            <a:pathLst>
              <a:path w="953" h="1066800">
                <a:moveTo>
                  <a:pt x="0" y="0"/>
                </a:moveTo>
                <a:lnTo>
                  <a:pt x="0" y="1066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79199"/>
            </a:solidFill>
            <a:prstDash val="solid"/>
          </a:ln>
        </p:spPr>
      </p:sp>
      <p:sp>
        <p:nvSpPr>
          <p:cNvPr id="109" name="source_CHARLS_name">
            <a:extLst xmlns:a="http://schemas.openxmlformats.org/drawingml/2006/main">
              <a:ext uri="{FF2B5EF4-FFF2-40B4-BE49-F238E27FC236}">
                <a16:creationId xmlns:a16="http://schemas.microsoft.com/office/drawing/2014/main" id="{5BB0809B-9507-4262-A93B-C115D2AE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8700" y="200025"/>
            <a:ext cx="2619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1872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E18727"/>
                </a:solidFill>
                <a:latin typeface="Arial"/>
                <a:ea typeface="Arial"/>
                <a:cs typeface="Arial"/>
              </a:rPr>
              <a:t>CHARLS</a:t>
            </a:r>
          </a:p>
        </p:txBody>
      </p:sp>
      <p:sp>
        <p:nvSpPr>
          <p:cNvPr id="110" name="source_CHARLS_region">
            <a:extLst xmlns:a="http://schemas.openxmlformats.org/drawingml/2006/main">
              <a:ext uri="{FF2B5EF4-FFF2-40B4-BE49-F238E27FC236}">
                <a16:creationId xmlns:a16="http://schemas.microsoft.com/office/drawing/2014/main" id="{CBE2846B-A4E1-47FF-8575-6CEA4C51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8700" y="619125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China</a:t>
            </a:r>
          </a:p>
        </p:txBody>
      </p:sp>
      <p:sp>
        <p:nvSpPr>
          <p:cNvPr id="111" name="source_CHARLS_dates">
            <a:extLst xmlns:a="http://schemas.openxmlformats.org/drawingml/2006/main">
              <a:ext uri="{FF2B5EF4-FFF2-40B4-BE49-F238E27FC236}">
                <a16:creationId xmlns:a16="http://schemas.microsoft.com/office/drawing/2014/main" id="{C44D5438-F884-4F7F-9BEA-A36A87F5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8700" y="98107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2011–2018</a:t>
            </a:r>
          </a:p>
        </p:txBody>
      </p:sp>
      <p:sp>
        <p:nvSpPr>
          <p:cNvPr id="112" name="cohort_bracket_left">
            <a:extLst xmlns:a="http://schemas.openxmlformats.org/drawingml/2006/main">
              <a:ext uri="{FF2B5EF4-FFF2-40B4-BE49-F238E27FC236}">
                <a16:creationId xmlns:a16="http://schemas.microsoft.com/office/drawing/2014/main" id="{4471E488-3892-4884-B09B-3C0FD40F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19225"/>
            <a:ext cx="953" cy="142875"/>
          </a:xfrm>
          <a:custGeom xmlns:a="http://schemas.openxmlformats.org/drawingml/2006/main">
            <a:pathLst>
              <a:path w="953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17E88"/>
            </a:solidFill>
            <a:prstDash val="solid"/>
          </a:ln>
        </p:spPr>
      </p:sp>
      <p:sp>
        <p:nvSpPr>
          <p:cNvPr id="113" name="cohort_bracket_base">
            <a:extLst xmlns:a="http://schemas.openxmlformats.org/drawingml/2006/main">
              <a:ext uri="{FF2B5EF4-FFF2-40B4-BE49-F238E27FC236}">
                <a16:creationId xmlns:a16="http://schemas.microsoft.com/office/drawing/2014/main" id="{EE535D23-3784-48B2-A064-C6797A90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62100"/>
            <a:ext cx="13239750" cy="953"/>
          </a:xfrm>
          <a:custGeom xmlns:a="http://schemas.openxmlformats.org/drawingml/2006/main">
            <a:pathLst>
              <a:path w="13239750" h="953">
                <a:moveTo>
                  <a:pt x="0" y="0"/>
                </a:moveTo>
                <a:lnTo>
                  <a:pt x="13239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17E88"/>
            </a:solidFill>
            <a:prstDash val="solid"/>
          </a:ln>
        </p:spPr>
      </p:sp>
      <p:sp>
        <p:nvSpPr>
          <p:cNvPr id="114" name="cohort_bracket_right">
            <a:extLst xmlns:a="http://schemas.openxmlformats.org/drawingml/2006/main">
              <a:ext uri="{FF2B5EF4-FFF2-40B4-BE49-F238E27FC236}">
                <a16:creationId xmlns:a16="http://schemas.microsoft.com/office/drawing/2014/main" id="{62A1E3A6-B568-4843-AAF5-7F7C71B4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1419225"/>
            <a:ext cx="953" cy="142875"/>
          </a:xfrm>
          <a:custGeom xmlns:a="http://schemas.openxmlformats.org/drawingml/2006/main">
            <a:pathLst>
              <a:path w="953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17E88"/>
            </a:solidFill>
            <a:prstDash val="solid"/>
          </a:ln>
        </p:spPr>
      </p:sp>
      <p:sp>
        <p:nvSpPr>
          <p:cNvPr id="115" name="cohort_bracket_stem">
            <a:extLst xmlns:a="http://schemas.openxmlformats.org/drawingml/2006/main">
              <a:ext uri="{FF2B5EF4-FFF2-40B4-BE49-F238E27FC236}">
                <a16:creationId xmlns:a16="http://schemas.microsoft.com/office/drawing/2014/main" id="{44BDBF19-B773-4360-9954-7F0BD07C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62100"/>
            <a:ext cx="953" cy="114300"/>
          </a:xfrm>
          <a:custGeom xmlns:a="http://schemas.openxmlformats.org/drawingml/2006/main">
            <a:pathLst>
              <a:path w="953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17E88"/>
            </a:solidFill>
            <a:prstDash val="solid"/>
          </a:ln>
        </p:spPr>
      </p:sp>
      <p:sp>
        <p:nvSpPr>
          <p:cNvPr id="116" name="eligibility">
            <a:extLst xmlns:a="http://schemas.openxmlformats.org/drawingml/2006/main">
              <a:ext uri="{FF2B5EF4-FFF2-40B4-BE49-F238E27FC236}">
                <a16:creationId xmlns:a16="http://schemas.microsoft.com/office/drawing/2014/main" id="{06A7E135-BFC9-4015-8192-4DA8874C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1695450"/>
            <a:ext cx="8382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Age ≥50 years · Within each cohort</a:t>
            </a:r>
          </a:p>
        </p:txBody>
      </p:sp>
      <p:sp>
        <p:nvSpPr>
          <p:cNvPr id="117" name="cohort_to_design_shaft">
            <a:extLst xmlns:a="http://schemas.openxmlformats.org/drawingml/2006/main">
              <a:ext uri="{FF2B5EF4-FFF2-40B4-BE49-F238E27FC236}">
                <a16:creationId xmlns:a16="http://schemas.microsoft.com/office/drawing/2014/main" id="{085D0735-9467-4A55-9D26-B816D42A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953" cy="228600"/>
          </a:xfrm>
          <a:custGeom xmlns:a="http://schemas.openxmlformats.org/drawingml/2006/main">
            <a:pathLst>
              <a:path w="953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17E88"/>
            </a:solidFill>
            <a:prstDash val="solid"/>
          </a:ln>
        </p:spPr>
      </p:sp>
      <p:sp>
        <p:nvSpPr>
          <p:cNvPr id="118" name="cohort_to_design_head">
            <a:extLst xmlns:a="http://schemas.openxmlformats.org/drawingml/2006/main">
              <a:ext uri="{FF2B5EF4-FFF2-40B4-BE49-F238E27FC236}">
                <a16:creationId xmlns:a16="http://schemas.microsoft.com/office/drawing/2014/main" id="{5DFC71CF-BEE1-4D1D-B026-8DD171FA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4790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57150" y="11430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717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exposure_heading">
            <a:extLst xmlns:a="http://schemas.openxmlformats.org/drawingml/2006/main">
              <a:ext uri="{FF2B5EF4-FFF2-40B4-BE49-F238E27FC236}">
                <a16:creationId xmlns:a16="http://schemas.microsoft.com/office/drawing/2014/main" id="{03168971-5E9B-472D-AB22-EA525F44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232410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Cancer history × current pain</a:t>
            </a:r>
          </a:p>
        </p:txBody>
      </p:sp>
      <p:sp>
        <p:nvSpPr>
          <p:cNvPr id="120" name="outcome_heading">
            <a:extLst xmlns:a="http://schemas.openxmlformats.org/drawingml/2006/main">
              <a:ext uri="{FF2B5EF4-FFF2-40B4-BE49-F238E27FC236}">
                <a16:creationId xmlns:a16="http://schemas.microsoft.com/office/drawing/2014/main" id="{B44EE415-3005-4A7B-AC54-1EF8A79E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2324100"/>
            <a:ext cx="652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Depressive symptoms</a:t>
            </a:r>
          </a:p>
        </p:txBody>
      </p:sp>
      <p:sp>
        <p:nvSpPr>
          <p:cNvPr id="121" name="phenotype_neither_surface">
            <a:extLst xmlns:a="http://schemas.openxmlformats.org/drawingml/2006/main">
              <a:ext uri="{FF2B5EF4-FFF2-40B4-BE49-F238E27FC236}">
                <a16:creationId xmlns:a16="http://schemas.microsoft.com/office/drawing/2014/main" id="{0F5759C4-5FB6-4265-878E-76CB1133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2828925"/>
            <a:ext cx="2619375" cy="157162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henotype_neither_patient_shoulders">
            <a:extLst xmlns:a="http://schemas.openxmlformats.org/drawingml/2006/main">
              <a:ext uri="{FF2B5EF4-FFF2-40B4-BE49-F238E27FC236}">
                <a16:creationId xmlns:a16="http://schemas.microsoft.com/office/drawing/2014/main" id="{88F4533E-F50A-42C3-B803-03DA3C6F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91294"/>
            <a:ext cx="866775" cy="442531"/>
          </a:xfrm>
          <a:custGeom xmlns:a="http://schemas.openxmlformats.org/drawingml/2006/main">
            <a:pathLst>
              <a:path w="866775" h="442531">
                <a:moveTo>
                  <a:pt x="0" y="442531"/>
                </a:moveTo>
                <a:lnTo>
                  <a:pt x="0" y="173165"/>
                </a:lnTo>
                <a:lnTo>
                  <a:pt x="104013" y="57722"/>
                </a:lnTo>
                <a:lnTo>
                  <a:pt x="312039" y="0"/>
                </a:lnTo>
                <a:lnTo>
                  <a:pt x="554736" y="0"/>
                </a:lnTo>
                <a:lnTo>
                  <a:pt x="762762" y="57722"/>
                </a:lnTo>
                <a:lnTo>
                  <a:pt x="866775" y="173165"/>
                </a:lnTo>
                <a:lnTo>
                  <a:pt x="866775" y="442531"/>
                </a:lnTo>
                <a:close/>
              </a:path>
            </a:pathLst>
          </a:custGeom>
          <a:solidFill xmlns:a="http://schemas.openxmlformats.org/drawingml/2006/main">
            <a:srgbClr val="8D93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henotype_neither_patient_neck">
            <a:extLst xmlns:a="http://schemas.openxmlformats.org/drawingml/2006/main">
              <a:ext uri="{FF2B5EF4-FFF2-40B4-BE49-F238E27FC236}">
                <a16:creationId xmlns:a16="http://schemas.microsoft.com/office/drawing/2014/main" id="{1A317969-C839-4826-886C-2DAD02D5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5679" y="3356610"/>
            <a:ext cx="130016" cy="163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A5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henotype_neither_patient_head">
            <a:extLst xmlns:a="http://schemas.openxmlformats.org/drawingml/2006/main">
              <a:ext uri="{FF2B5EF4-FFF2-40B4-BE49-F238E27FC236}">
                <a16:creationId xmlns:a16="http://schemas.microsoft.com/office/drawing/2014/main" id="{A1B754F4-9E14-4EC6-B877-E23C731E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331" y="2971800"/>
            <a:ext cx="372713" cy="4136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A5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henotype_neither_patient_ear_left">
            <a:extLst xmlns:a="http://schemas.openxmlformats.org/drawingml/2006/main">
              <a:ext uri="{FF2B5EF4-FFF2-40B4-BE49-F238E27FC236}">
                <a16:creationId xmlns:a16="http://schemas.microsoft.com/office/drawing/2014/main" id="{3BD606F5-1613-4988-8E38-4A69F91B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8241" y="3145542"/>
            <a:ext cx="48453" cy="1034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A5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henotype_neither_patient_ear_right">
            <a:extLst xmlns:a="http://schemas.openxmlformats.org/drawingml/2006/main">
              <a:ext uri="{FF2B5EF4-FFF2-40B4-BE49-F238E27FC236}">
                <a16:creationId xmlns:a16="http://schemas.microsoft.com/office/drawing/2014/main" id="{2123CEB7-68D8-4541-8710-3604928F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4681" y="3145542"/>
            <a:ext cx="48453" cy="1034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A5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henotype_neither_patient_hair">
            <a:extLst xmlns:a="http://schemas.openxmlformats.org/drawingml/2006/main">
              <a:ext uri="{FF2B5EF4-FFF2-40B4-BE49-F238E27FC236}">
                <a16:creationId xmlns:a16="http://schemas.microsoft.com/office/drawing/2014/main" id="{0E7FA657-B102-47C3-A9A8-E48483EE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967" y="2971800"/>
            <a:ext cx="335442" cy="103418"/>
          </a:xfrm>
          <a:custGeom xmlns:a="http://schemas.openxmlformats.org/drawingml/2006/main">
            <a:pathLst>
              <a:path w="335442" h="103418">
                <a:moveTo>
                  <a:pt x="0" y="99281"/>
                </a:moveTo>
                <a:lnTo>
                  <a:pt x="67088" y="24820"/>
                </a:lnTo>
                <a:lnTo>
                  <a:pt x="212447" y="0"/>
                </a:lnTo>
                <a:lnTo>
                  <a:pt x="335442" y="49640"/>
                </a:lnTo>
                <a:lnTo>
                  <a:pt x="331715" y="103418"/>
                </a:lnTo>
                <a:lnTo>
                  <a:pt x="93178" y="82734"/>
                </a:lnTo>
                <a:close/>
              </a:path>
            </a:pathLst>
          </a:custGeom>
          <a:solidFill xmlns:a="http://schemas.openxmlformats.org/drawingml/2006/main">
            <a:srgbClr val="8B90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henotype_neither_label">
            <a:extLst xmlns:a="http://schemas.openxmlformats.org/drawingml/2006/main">
              <a:ext uri="{FF2B5EF4-FFF2-40B4-BE49-F238E27FC236}">
                <a16:creationId xmlns:a16="http://schemas.microsoft.com/office/drawing/2014/main" id="{ACAC1E45-CE34-4CE5-9449-D95E84F1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" y="3952875"/>
            <a:ext cx="2562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Neither</a:t>
            </a:r>
          </a:p>
        </p:txBody>
      </p:sp>
      <p:sp>
        <p:nvSpPr>
          <p:cNvPr id="129" name="phenotype_pain_only_surface">
            <a:extLst xmlns:a="http://schemas.openxmlformats.org/drawingml/2006/main">
              <a:ext uri="{FF2B5EF4-FFF2-40B4-BE49-F238E27FC236}">
                <a16:creationId xmlns:a16="http://schemas.microsoft.com/office/drawing/2014/main" id="{CBDDA1D5-5DF0-493C-8972-A170A077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95625" y="2828925"/>
            <a:ext cx="2619375" cy="157162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henotype_pain_only_patient_shoulders">
            <a:extLst xmlns:a="http://schemas.openxmlformats.org/drawingml/2006/main">
              <a:ext uri="{FF2B5EF4-FFF2-40B4-BE49-F238E27FC236}">
                <a16:creationId xmlns:a16="http://schemas.microsoft.com/office/drawing/2014/main" id="{AA719725-F410-42CE-A20C-A0958A72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491294"/>
            <a:ext cx="866775" cy="442531"/>
          </a:xfrm>
          <a:custGeom xmlns:a="http://schemas.openxmlformats.org/drawingml/2006/main">
            <a:pathLst>
              <a:path w="866775" h="442531">
                <a:moveTo>
                  <a:pt x="0" y="442531"/>
                </a:moveTo>
                <a:lnTo>
                  <a:pt x="0" y="173165"/>
                </a:lnTo>
                <a:lnTo>
                  <a:pt x="104013" y="57722"/>
                </a:lnTo>
                <a:lnTo>
                  <a:pt x="312039" y="0"/>
                </a:lnTo>
                <a:lnTo>
                  <a:pt x="554736" y="0"/>
                </a:lnTo>
                <a:lnTo>
                  <a:pt x="762762" y="57722"/>
                </a:lnTo>
                <a:lnTo>
                  <a:pt x="866775" y="173165"/>
                </a:lnTo>
                <a:lnTo>
                  <a:pt x="866775" y="442531"/>
                </a:lnTo>
                <a:close/>
              </a:path>
            </a:pathLst>
          </a:custGeom>
          <a:solidFill xmlns:a="http://schemas.openxmlformats.org/drawingml/2006/main">
            <a:srgbClr val="8D93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henotype_pain_only_patient_neck">
            <a:extLst xmlns:a="http://schemas.openxmlformats.org/drawingml/2006/main">
              <a:ext uri="{FF2B5EF4-FFF2-40B4-BE49-F238E27FC236}">
                <a16:creationId xmlns:a16="http://schemas.microsoft.com/office/drawing/2014/main" id="{14B2C74A-EBA2-4D2D-9ACA-38EC7EF1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0304" y="3356610"/>
            <a:ext cx="130016" cy="163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A5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henotype_pain_only_patient_head">
            <a:extLst xmlns:a="http://schemas.openxmlformats.org/drawingml/2006/main">
              <a:ext uri="{FF2B5EF4-FFF2-40B4-BE49-F238E27FC236}">
                <a16:creationId xmlns:a16="http://schemas.microsoft.com/office/drawing/2014/main" id="{7911F31D-CF71-429A-88DE-0F5B4334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8956" y="2971800"/>
            <a:ext cx="372713" cy="4136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A5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henotype_pain_only_patient_ear_left">
            <a:extLst xmlns:a="http://schemas.openxmlformats.org/drawingml/2006/main">
              <a:ext uri="{FF2B5EF4-FFF2-40B4-BE49-F238E27FC236}">
                <a16:creationId xmlns:a16="http://schemas.microsoft.com/office/drawing/2014/main" id="{23377C7E-378F-4038-A4A9-40530C77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2866" y="3145542"/>
            <a:ext cx="48453" cy="1034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A5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henotype_pain_only_patient_ear_right">
            <a:extLst xmlns:a="http://schemas.openxmlformats.org/drawingml/2006/main">
              <a:ext uri="{FF2B5EF4-FFF2-40B4-BE49-F238E27FC236}">
                <a16:creationId xmlns:a16="http://schemas.microsoft.com/office/drawing/2014/main" id="{D4873205-A33D-4486-BBD3-2A1D4ADF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9306" y="3145542"/>
            <a:ext cx="48453" cy="1034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A5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henotype_pain_only_patient_hair">
            <a:extLst xmlns:a="http://schemas.openxmlformats.org/drawingml/2006/main">
              <a:ext uri="{FF2B5EF4-FFF2-40B4-BE49-F238E27FC236}">
                <a16:creationId xmlns:a16="http://schemas.microsoft.com/office/drawing/2014/main" id="{BD13D703-D5F8-4041-8255-9CE1468C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592" y="2971800"/>
            <a:ext cx="335442" cy="103418"/>
          </a:xfrm>
          <a:custGeom xmlns:a="http://schemas.openxmlformats.org/drawingml/2006/main">
            <a:pathLst>
              <a:path w="335442" h="103418">
                <a:moveTo>
                  <a:pt x="0" y="99281"/>
                </a:moveTo>
                <a:lnTo>
                  <a:pt x="67088" y="24820"/>
                </a:lnTo>
                <a:lnTo>
                  <a:pt x="212447" y="0"/>
                </a:lnTo>
                <a:lnTo>
                  <a:pt x="335442" y="49640"/>
                </a:lnTo>
                <a:lnTo>
                  <a:pt x="331715" y="103418"/>
                </a:lnTo>
                <a:lnTo>
                  <a:pt x="93178" y="82734"/>
                </a:lnTo>
                <a:close/>
              </a:path>
            </a:pathLst>
          </a:custGeom>
          <a:solidFill xmlns:a="http://schemas.openxmlformats.org/drawingml/2006/main">
            <a:srgbClr val="8B90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henotype_pain_only_pain_bolt1">
            <a:extLst xmlns:a="http://schemas.openxmlformats.org/drawingml/2006/main">
              <a:ext uri="{FF2B5EF4-FFF2-40B4-BE49-F238E27FC236}">
                <a16:creationId xmlns:a16="http://schemas.microsoft.com/office/drawing/2014/main" id="{04EC30CB-8833-4473-95BE-41255EC4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86075"/>
            <a:ext cx="304800" cy="361950"/>
          </a:xfrm>
          <a:custGeom xmlns:a="http://schemas.openxmlformats.org/drawingml/2006/main">
            <a:pathLst>
              <a:path w="304800" h="361950">
                <a:moveTo>
                  <a:pt x="161925" y="0"/>
                </a:moveTo>
                <a:lnTo>
                  <a:pt x="0" y="190500"/>
                </a:lnTo>
                <a:lnTo>
                  <a:pt x="133350" y="171450"/>
                </a:lnTo>
                <a:lnTo>
                  <a:pt x="0" y="361950"/>
                </a:lnTo>
                <a:lnTo>
                  <a:pt x="304800" y="123825"/>
                </a:lnTo>
                <a:lnTo>
                  <a:pt x="161925" y="161925"/>
                </a:lnTo>
                <a:close/>
              </a:path>
            </a:pathLst>
          </a:custGeom>
          <a:solidFill xmlns:a="http://schemas.openxmlformats.org/drawingml/2006/main">
            <a:srgbClr val="D72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phenotype_pain_only_pain_bolt2">
            <a:extLst xmlns:a="http://schemas.openxmlformats.org/drawingml/2006/main">
              <a:ext uri="{FF2B5EF4-FFF2-40B4-BE49-F238E27FC236}">
                <a16:creationId xmlns:a16="http://schemas.microsoft.com/office/drawing/2014/main" id="{B8840795-7F62-4956-8966-5AF51A14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219450"/>
            <a:ext cx="323850" cy="219075"/>
          </a:xfrm>
          <a:custGeom xmlns:a="http://schemas.openxmlformats.org/drawingml/2006/main">
            <a:pathLst>
              <a:path w="323850" h="219075">
                <a:moveTo>
                  <a:pt x="228600" y="0"/>
                </a:moveTo>
                <a:lnTo>
                  <a:pt x="0" y="85725"/>
                </a:lnTo>
                <a:lnTo>
                  <a:pt x="142875" y="104775"/>
                </a:lnTo>
                <a:lnTo>
                  <a:pt x="57150" y="219075"/>
                </a:lnTo>
                <a:lnTo>
                  <a:pt x="323850" y="133350"/>
                </a:lnTo>
                <a:lnTo>
                  <a:pt x="161925" y="95250"/>
                </a:lnTo>
                <a:close/>
              </a:path>
            </a:pathLst>
          </a:custGeom>
          <a:solidFill xmlns:a="http://schemas.openxmlformats.org/drawingml/2006/main">
            <a:srgbClr val="D72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phenotype_pain_only_label">
            <a:extLst xmlns:a="http://schemas.openxmlformats.org/drawingml/2006/main">
              <a:ext uri="{FF2B5EF4-FFF2-40B4-BE49-F238E27FC236}">
                <a16:creationId xmlns:a16="http://schemas.microsoft.com/office/drawing/2014/main" id="{D89CC781-6601-4352-B9B5-1B6D0917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4200" y="3952875"/>
            <a:ext cx="2562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Pain only</a:t>
            </a:r>
          </a:p>
        </p:txBody>
      </p:sp>
      <p:sp>
        <p:nvSpPr>
          <p:cNvPr id="139" name="phenotype_cancer_only_surface">
            <a:extLst xmlns:a="http://schemas.openxmlformats.org/drawingml/2006/main">
              <a:ext uri="{FF2B5EF4-FFF2-40B4-BE49-F238E27FC236}">
                <a16:creationId xmlns:a16="http://schemas.microsoft.com/office/drawing/2014/main" id="{6FFECBBF-B571-43EE-ADB9-42DF9DB0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4476750"/>
            <a:ext cx="2619375" cy="157162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phenotype_cancer_only_patient_shoulders">
            <a:extLst xmlns:a="http://schemas.openxmlformats.org/drawingml/2006/main">
              <a:ext uri="{FF2B5EF4-FFF2-40B4-BE49-F238E27FC236}">
                <a16:creationId xmlns:a16="http://schemas.microsoft.com/office/drawing/2014/main" id="{AEAD2CD3-1BD9-41A4-9983-DFD25775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39119"/>
            <a:ext cx="866775" cy="442532"/>
          </a:xfrm>
          <a:custGeom xmlns:a="http://schemas.openxmlformats.org/drawingml/2006/main">
            <a:pathLst>
              <a:path w="866775" h="442532">
                <a:moveTo>
                  <a:pt x="0" y="442532"/>
                </a:moveTo>
                <a:lnTo>
                  <a:pt x="0" y="173165"/>
                </a:lnTo>
                <a:lnTo>
                  <a:pt x="104013" y="57722"/>
                </a:lnTo>
                <a:lnTo>
                  <a:pt x="312039" y="0"/>
                </a:lnTo>
                <a:lnTo>
                  <a:pt x="554736" y="0"/>
                </a:lnTo>
                <a:lnTo>
                  <a:pt x="762762" y="57722"/>
                </a:lnTo>
                <a:lnTo>
                  <a:pt x="866775" y="173165"/>
                </a:lnTo>
                <a:lnTo>
                  <a:pt x="866775" y="442532"/>
                </a:lnTo>
                <a:close/>
              </a:path>
            </a:pathLst>
          </a:custGeom>
          <a:solidFill xmlns:a="http://schemas.openxmlformats.org/drawingml/2006/main">
            <a:srgbClr val="8D93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phenotype_cancer_only_patient_neck">
            <a:extLst xmlns:a="http://schemas.openxmlformats.org/drawingml/2006/main">
              <a:ext uri="{FF2B5EF4-FFF2-40B4-BE49-F238E27FC236}">
                <a16:creationId xmlns:a16="http://schemas.microsoft.com/office/drawing/2014/main" id="{BF29AFD5-2E4D-4DA0-96EC-398B63C6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5679" y="5004435"/>
            <a:ext cx="130016" cy="163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A5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phenotype_cancer_only_patient_head">
            <a:extLst xmlns:a="http://schemas.openxmlformats.org/drawingml/2006/main">
              <a:ext uri="{FF2B5EF4-FFF2-40B4-BE49-F238E27FC236}">
                <a16:creationId xmlns:a16="http://schemas.microsoft.com/office/drawing/2014/main" id="{E2DA9E23-309F-46F4-ADAD-2032B1D5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331" y="4619625"/>
            <a:ext cx="372713" cy="4136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A5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henotype_cancer_only_patient_ear_left">
            <a:extLst xmlns:a="http://schemas.openxmlformats.org/drawingml/2006/main">
              <a:ext uri="{FF2B5EF4-FFF2-40B4-BE49-F238E27FC236}">
                <a16:creationId xmlns:a16="http://schemas.microsoft.com/office/drawing/2014/main" id="{673338D0-05B9-4305-BF96-93CF2C47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8241" y="4793367"/>
            <a:ext cx="48453" cy="1034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A5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phenotype_cancer_only_patient_ear_right">
            <a:extLst xmlns:a="http://schemas.openxmlformats.org/drawingml/2006/main">
              <a:ext uri="{FF2B5EF4-FFF2-40B4-BE49-F238E27FC236}">
                <a16:creationId xmlns:a16="http://schemas.microsoft.com/office/drawing/2014/main" id="{9EC571C3-C66D-47AE-81A8-14BCB0E8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4681" y="4793367"/>
            <a:ext cx="48453" cy="1034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A5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henotype_cancer_only_patient_hair">
            <a:extLst xmlns:a="http://schemas.openxmlformats.org/drawingml/2006/main">
              <a:ext uri="{FF2B5EF4-FFF2-40B4-BE49-F238E27FC236}">
                <a16:creationId xmlns:a16="http://schemas.microsoft.com/office/drawing/2014/main" id="{2A86F991-2701-49A2-9065-12D94884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967" y="4619625"/>
            <a:ext cx="335442" cy="103418"/>
          </a:xfrm>
          <a:custGeom xmlns:a="http://schemas.openxmlformats.org/drawingml/2006/main">
            <a:pathLst>
              <a:path w="335442" h="103418">
                <a:moveTo>
                  <a:pt x="0" y="99281"/>
                </a:moveTo>
                <a:lnTo>
                  <a:pt x="67088" y="24820"/>
                </a:lnTo>
                <a:lnTo>
                  <a:pt x="212447" y="0"/>
                </a:lnTo>
                <a:lnTo>
                  <a:pt x="335442" y="49640"/>
                </a:lnTo>
                <a:lnTo>
                  <a:pt x="331715" y="103418"/>
                </a:lnTo>
                <a:lnTo>
                  <a:pt x="93178" y="82734"/>
                </a:lnTo>
                <a:close/>
              </a:path>
            </a:pathLst>
          </a:custGeom>
          <a:solidFill xmlns:a="http://schemas.openxmlformats.org/drawingml/2006/main">
            <a:srgbClr val="8B90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phenotype_cancer_only_cancer_loop">
            <a:extLst xmlns:a="http://schemas.openxmlformats.org/drawingml/2006/main">
              <a:ext uri="{FF2B5EF4-FFF2-40B4-BE49-F238E27FC236}">
                <a16:creationId xmlns:a16="http://schemas.microsoft.com/office/drawing/2014/main" id="{C6A4ED15-1C8D-4788-ACDA-6047FDF8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8855" y="5162550"/>
            <a:ext cx="160020" cy="152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5720">
            <a:solidFill>
              <a:srgbClr val="7876B1"/>
            </a:solidFill>
            <a:prstDash val="solid"/>
          </a:ln>
        </p:spPr>
      </p:sp>
      <p:sp>
        <p:nvSpPr>
          <p:cNvPr id="147" name="phenotype_cancer_only_cancer_tail_left">
            <a:extLst xmlns:a="http://schemas.openxmlformats.org/drawingml/2006/main">
              <a:ext uri="{FF2B5EF4-FFF2-40B4-BE49-F238E27FC236}">
                <a16:creationId xmlns:a16="http://schemas.microsoft.com/office/drawing/2014/main" id="{9F1DFA6E-FD3C-4A60-B635-FD8CA8B5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035" y="5253990"/>
            <a:ext cx="228600" cy="289560"/>
          </a:xfrm>
          <a:custGeom xmlns:a="http://schemas.openxmlformats.org/drawingml/2006/main">
            <a:pathLst>
              <a:path w="228600" h="289560">
                <a:moveTo>
                  <a:pt x="167640" y="0"/>
                </a:moveTo>
                <a:lnTo>
                  <a:pt x="228600" y="68580"/>
                </a:lnTo>
                <a:lnTo>
                  <a:pt x="60960" y="289560"/>
                </a:lnTo>
                <a:lnTo>
                  <a:pt x="0" y="224790"/>
                </a:lnTo>
                <a:close/>
              </a:path>
            </a:pathLst>
          </a:custGeom>
          <a:solidFill xmlns:a="http://schemas.openxmlformats.org/drawingml/2006/main">
            <a:srgbClr val="7876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henotype_cancer_only_cancer_tail_right">
            <a:extLst xmlns:a="http://schemas.openxmlformats.org/drawingml/2006/main">
              <a:ext uri="{FF2B5EF4-FFF2-40B4-BE49-F238E27FC236}">
                <a16:creationId xmlns:a16="http://schemas.microsoft.com/office/drawing/2014/main" id="{1216B87B-53AD-4508-A7E2-45131288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045" y="5261610"/>
            <a:ext cx="259080" cy="281940"/>
          </a:xfrm>
          <a:custGeom xmlns:a="http://schemas.openxmlformats.org/drawingml/2006/main">
            <a:pathLst>
              <a:path w="259080" h="281940">
                <a:moveTo>
                  <a:pt x="64770" y="0"/>
                </a:moveTo>
                <a:lnTo>
                  <a:pt x="0" y="68580"/>
                </a:lnTo>
                <a:lnTo>
                  <a:pt x="194310" y="281940"/>
                </a:lnTo>
                <a:lnTo>
                  <a:pt x="259080" y="224790"/>
                </a:lnTo>
                <a:close/>
              </a:path>
            </a:pathLst>
          </a:custGeom>
          <a:solidFill xmlns:a="http://schemas.openxmlformats.org/drawingml/2006/main">
            <a:srgbClr val="7876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henotype_cancer_only_label">
            <a:extLst xmlns:a="http://schemas.openxmlformats.org/drawingml/2006/main">
              <a:ext uri="{FF2B5EF4-FFF2-40B4-BE49-F238E27FC236}">
                <a16:creationId xmlns:a16="http://schemas.microsoft.com/office/drawing/2014/main" id="{868CC661-A12F-44C0-8ACA-15F038E2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" y="5600700"/>
            <a:ext cx="2562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Cancer only</a:t>
            </a:r>
          </a:p>
        </p:txBody>
      </p:sp>
      <p:sp>
        <p:nvSpPr>
          <p:cNvPr id="150" name="phenotype_joint_surface">
            <a:extLst xmlns:a="http://schemas.openxmlformats.org/drawingml/2006/main">
              <a:ext uri="{FF2B5EF4-FFF2-40B4-BE49-F238E27FC236}">
                <a16:creationId xmlns:a16="http://schemas.microsoft.com/office/drawing/2014/main" id="{7194BFDF-A658-4796-9525-4AB18927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95625" y="4476750"/>
            <a:ext cx="2619375" cy="157162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henotype_joint_patient_shoulders">
            <a:extLst xmlns:a="http://schemas.openxmlformats.org/drawingml/2006/main">
              <a:ext uri="{FF2B5EF4-FFF2-40B4-BE49-F238E27FC236}">
                <a16:creationId xmlns:a16="http://schemas.microsoft.com/office/drawing/2014/main" id="{EED29FBF-14B1-4E96-959B-E8643ADC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139119"/>
            <a:ext cx="866775" cy="442532"/>
          </a:xfrm>
          <a:custGeom xmlns:a="http://schemas.openxmlformats.org/drawingml/2006/main">
            <a:pathLst>
              <a:path w="866775" h="442532">
                <a:moveTo>
                  <a:pt x="0" y="442532"/>
                </a:moveTo>
                <a:lnTo>
                  <a:pt x="0" y="173165"/>
                </a:lnTo>
                <a:lnTo>
                  <a:pt x="104013" y="57722"/>
                </a:lnTo>
                <a:lnTo>
                  <a:pt x="312039" y="0"/>
                </a:lnTo>
                <a:lnTo>
                  <a:pt x="554736" y="0"/>
                </a:lnTo>
                <a:lnTo>
                  <a:pt x="762762" y="57722"/>
                </a:lnTo>
                <a:lnTo>
                  <a:pt x="866775" y="173165"/>
                </a:lnTo>
                <a:lnTo>
                  <a:pt x="866775" y="442532"/>
                </a:lnTo>
                <a:close/>
              </a:path>
            </a:pathLst>
          </a:custGeom>
          <a:solidFill xmlns:a="http://schemas.openxmlformats.org/drawingml/2006/main">
            <a:srgbClr val="8D93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henotype_joint_patient_neck">
            <a:extLst xmlns:a="http://schemas.openxmlformats.org/drawingml/2006/main">
              <a:ext uri="{FF2B5EF4-FFF2-40B4-BE49-F238E27FC236}">
                <a16:creationId xmlns:a16="http://schemas.microsoft.com/office/drawing/2014/main" id="{020BDF73-960E-4C5A-8E47-4B78A839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0304" y="5004435"/>
            <a:ext cx="130016" cy="163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A5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henotype_joint_patient_head">
            <a:extLst xmlns:a="http://schemas.openxmlformats.org/drawingml/2006/main">
              <a:ext uri="{FF2B5EF4-FFF2-40B4-BE49-F238E27FC236}">
                <a16:creationId xmlns:a16="http://schemas.microsoft.com/office/drawing/2014/main" id="{E196F2C3-BF98-45A1-B92C-2B00964E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8956" y="4619625"/>
            <a:ext cx="372713" cy="4136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A5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phenotype_joint_patient_ear_left">
            <a:extLst xmlns:a="http://schemas.openxmlformats.org/drawingml/2006/main">
              <a:ext uri="{FF2B5EF4-FFF2-40B4-BE49-F238E27FC236}">
                <a16:creationId xmlns:a16="http://schemas.microsoft.com/office/drawing/2014/main" id="{1C4BE603-353C-4F2B-AF25-B484753C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2866" y="4793367"/>
            <a:ext cx="48453" cy="1034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A5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henotype_joint_patient_ear_right">
            <a:extLst xmlns:a="http://schemas.openxmlformats.org/drawingml/2006/main">
              <a:ext uri="{FF2B5EF4-FFF2-40B4-BE49-F238E27FC236}">
                <a16:creationId xmlns:a16="http://schemas.microsoft.com/office/drawing/2014/main" id="{7AD00E1F-F199-41FC-90D8-13069677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9306" y="4793367"/>
            <a:ext cx="48453" cy="1034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A5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henotype_joint_patient_hair">
            <a:extLst xmlns:a="http://schemas.openxmlformats.org/drawingml/2006/main">
              <a:ext uri="{FF2B5EF4-FFF2-40B4-BE49-F238E27FC236}">
                <a16:creationId xmlns:a16="http://schemas.microsoft.com/office/drawing/2014/main" id="{D8282283-D05F-4B63-A8D9-15376ED8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592" y="4619625"/>
            <a:ext cx="335442" cy="103418"/>
          </a:xfrm>
          <a:custGeom xmlns:a="http://schemas.openxmlformats.org/drawingml/2006/main">
            <a:pathLst>
              <a:path w="335442" h="103418">
                <a:moveTo>
                  <a:pt x="0" y="99281"/>
                </a:moveTo>
                <a:lnTo>
                  <a:pt x="67088" y="24820"/>
                </a:lnTo>
                <a:lnTo>
                  <a:pt x="212447" y="0"/>
                </a:lnTo>
                <a:lnTo>
                  <a:pt x="335442" y="49640"/>
                </a:lnTo>
                <a:lnTo>
                  <a:pt x="331715" y="103418"/>
                </a:lnTo>
                <a:lnTo>
                  <a:pt x="93178" y="82734"/>
                </a:lnTo>
                <a:close/>
              </a:path>
            </a:pathLst>
          </a:custGeom>
          <a:solidFill xmlns:a="http://schemas.openxmlformats.org/drawingml/2006/main">
            <a:srgbClr val="8B90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henotype_joint_pain_bolt1">
            <a:extLst xmlns:a="http://schemas.openxmlformats.org/drawingml/2006/main">
              <a:ext uri="{FF2B5EF4-FFF2-40B4-BE49-F238E27FC236}">
                <a16:creationId xmlns:a16="http://schemas.microsoft.com/office/drawing/2014/main" id="{B299F030-48E3-40FE-950B-0B9B1B06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33900"/>
            <a:ext cx="304800" cy="361950"/>
          </a:xfrm>
          <a:custGeom xmlns:a="http://schemas.openxmlformats.org/drawingml/2006/main">
            <a:pathLst>
              <a:path w="304800" h="361950">
                <a:moveTo>
                  <a:pt x="161925" y="0"/>
                </a:moveTo>
                <a:lnTo>
                  <a:pt x="0" y="190500"/>
                </a:lnTo>
                <a:lnTo>
                  <a:pt x="133350" y="171450"/>
                </a:lnTo>
                <a:lnTo>
                  <a:pt x="0" y="361950"/>
                </a:lnTo>
                <a:lnTo>
                  <a:pt x="304800" y="123825"/>
                </a:lnTo>
                <a:lnTo>
                  <a:pt x="161925" y="161925"/>
                </a:lnTo>
                <a:close/>
              </a:path>
            </a:pathLst>
          </a:custGeom>
          <a:solidFill xmlns:a="http://schemas.openxmlformats.org/drawingml/2006/main">
            <a:srgbClr val="D72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henotype_joint_pain_bolt2">
            <a:extLst xmlns:a="http://schemas.openxmlformats.org/drawingml/2006/main">
              <a:ext uri="{FF2B5EF4-FFF2-40B4-BE49-F238E27FC236}">
                <a16:creationId xmlns:a16="http://schemas.microsoft.com/office/drawing/2014/main" id="{483DDCAC-C923-4F49-AD02-A886BCE6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67275"/>
            <a:ext cx="323850" cy="219075"/>
          </a:xfrm>
          <a:custGeom xmlns:a="http://schemas.openxmlformats.org/drawingml/2006/main">
            <a:pathLst>
              <a:path w="323850" h="219075">
                <a:moveTo>
                  <a:pt x="228600" y="0"/>
                </a:moveTo>
                <a:lnTo>
                  <a:pt x="0" y="85725"/>
                </a:lnTo>
                <a:lnTo>
                  <a:pt x="142875" y="104775"/>
                </a:lnTo>
                <a:lnTo>
                  <a:pt x="57150" y="219075"/>
                </a:lnTo>
                <a:lnTo>
                  <a:pt x="323850" y="133350"/>
                </a:lnTo>
                <a:lnTo>
                  <a:pt x="161925" y="95250"/>
                </a:lnTo>
                <a:close/>
              </a:path>
            </a:pathLst>
          </a:custGeom>
          <a:solidFill xmlns:a="http://schemas.openxmlformats.org/drawingml/2006/main">
            <a:srgbClr val="D72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henotype_joint_cancer_loop">
            <a:extLst xmlns:a="http://schemas.openxmlformats.org/drawingml/2006/main">
              <a:ext uri="{FF2B5EF4-FFF2-40B4-BE49-F238E27FC236}">
                <a16:creationId xmlns:a16="http://schemas.microsoft.com/office/drawing/2014/main" id="{B927D069-908C-4B61-8C5D-F801793B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3480" y="5162550"/>
            <a:ext cx="160020" cy="152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5720">
            <a:solidFill>
              <a:srgbClr val="7876B1"/>
            </a:solidFill>
            <a:prstDash val="solid"/>
          </a:ln>
        </p:spPr>
      </p:sp>
      <p:sp>
        <p:nvSpPr>
          <p:cNvPr id="160" name="phenotype_joint_cancer_tail_left">
            <a:extLst xmlns:a="http://schemas.openxmlformats.org/drawingml/2006/main">
              <a:ext uri="{FF2B5EF4-FFF2-40B4-BE49-F238E27FC236}">
                <a16:creationId xmlns:a16="http://schemas.microsoft.com/office/drawing/2014/main" id="{815A964E-C88A-4103-9FC0-BC44A62A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9660" y="5253990"/>
            <a:ext cx="228600" cy="289560"/>
          </a:xfrm>
          <a:custGeom xmlns:a="http://schemas.openxmlformats.org/drawingml/2006/main">
            <a:pathLst>
              <a:path w="228600" h="289560">
                <a:moveTo>
                  <a:pt x="167640" y="0"/>
                </a:moveTo>
                <a:lnTo>
                  <a:pt x="228600" y="68580"/>
                </a:lnTo>
                <a:lnTo>
                  <a:pt x="60960" y="289560"/>
                </a:lnTo>
                <a:lnTo>
                  <a:pt x="0" y="224790"/>
                </a:lnTo>
                <a:close/>
              </a:path>
            </a:pathLst>
          </a:custGeom>
          <a:solidFill xmlns:a="http://schemas.openxmlformats.org/drawingml/2006/main">
            <a:srgbClr val="7876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henotype_joint_cancer_tail_right">
            <a:extLst xmlns:a="http://schemas.openxmlformats.org/drawingml/2006/main">
              <a:ext uri="{FF2B5EF4-FFF2-40B4-BE49-F238E27FC236}">
                <a16:creationId xmlns:a16="http://schemas.microsoft.com/office/drawing/2014/main" id="{529DEB36-3805-486F-B267-91C1071C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670" y="5261610"/>
            <a:ext cx="259080" cy="281940"/>
          </a:xfrm>
          <a:custGeom xmlns:a="http://schemas.openxmlformats.org/drawingml/2006/main">
            <a:pathLst>
              <a:path w="259080" h="281940">
                <a:moveTo>
                  <a:pt x="64770" y="0"/>
                </a:moveTo>
                <a:lnTo>
                  <a:pt x="0" y="68580"/>
                </a:lnTo>
                <a:lnTo>
                  <a:pt x="194310" y="281940"/>
                </a:lnTo>
                <a:lnTo>
                  <a:pt x="259080" y="224790"/>
                </a:lnTo>
                <a:close/>
              </a:path>
            </a:pathLst>
          </a:custGeom>
          <a:solidFill xmlns:a="http://schemas.openxmlformats.org/drawingml/2006/main">
            <a:srgbClr val="7876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henotype_joint_label">
            <a:extLst xmlns:a="http://schemas.openxmlformats.org/drawingml/2006/main">
              <a:ext uri="{FF2B5EF4-FFF2-40B4-BE49-F238E27FC236}">
                <a16:creationId xmlns:a16="http://schemas.microsoft.com/office/drawing/2014/main" id="{F55B0BCD-A913-4279-8DEB-B414AA53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4200" y="5600700"/>
            <a:ext cx="2562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Cancer and pain</a:t>
            </a:r>
          </a:p>
        </p:txBody>
      </p:sp>
      <p:sp>
        <p:nvSpPr>
          <p:cNvPr id="163" name="exposure_to_followup_shaft">
            <a:extLst xmlns:a="http://schemas.openxmlformats.org/drawingml/2006/main">
              <a:ext uri="{FF2B5EF4-FFF2-40B4-BE49-F238E27FC236}">
                <a16:creationId xmlns:a16="http://schemas.microsoft.com/office/drawing/2014/main" id="{C42B038E-157E-439F-B2E6-051438DA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371975"/>
            <a:ext cx="390525" cy="953"/>
          </a:xfrm>
          <a:custGeom xmlns:a="http://schemas.openxmlformats.org/drawingml/2006/main">
            <a:pathLst>
              <a:path w="390525" h="953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17E88"/>
            </a:solidFill>
            <a:prstDash val="solid"/>
          </a:ln>
        </p:spPr>
      </p:sp>
      <p:sp>
        <p:nvSpPr>
          <p:cNvPr id="164" name="exposure_to_followup_head">
            <a:extLst xmlns:a="http://schemas.openxmlformats.org/drawingml/2006/main">
              <a:ext uri="{FF2B5EF4-FFF2-40B4-BE49-F238E27FC236}">
                <a16:creationId xmlns:a16="http://schemas.microsoft.com/office/drawing/2014/main" id="{5167F541-AA8B-4D95-9B75-2D34003D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14825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14300" y="57150"/>
                </a:move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17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followup_outline">
            <a:extLst xmlns:a="http://schemas.openxmlformats.org/drawingml/2006/main">
              <a:ext uri="{FF2B5EF4-FFF2-40B4-BE49-F238E27FC236}">
                <a16:creationId xmlns:a16="http://schemas.microsoft.com/office/drawing/2014/main" id="{B1CEFAD5-2356-417B-B08D-99ABF25A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5100" y="3924300"/>
            <a:ext cx="971550" cy="94297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75">
            <a:solidFill>
              <a:srgbClr val="465560"/>
            </a:solidFill>
            <a:prstDash val="solid"/>
          </a:ln>
        </p:spPr>
      </p:sp>
      <p:sp>
        <p:nvSpPr>
          <p:cNvPr id="166" name="followup_header">
            <a:extLst xmlns:a="http://schemas.openxmlformats.org/drawingml/2006/main">
              <a:ext uri="{FF2B5EF4-FFF2-40B4-BE49-F238E27FC236}">
                <a16:creationId xmlns:a16="http://schemas.microsoft.com/office/drawing/2014/main" id="{E0B58244-4A4B-46DA-9AAA-ADBE3C2F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3675" y="3952875"/>
            <a:ext cx="914400" cy="216884"/>
          </a:xfrm>
          <a:prstGeom xmlns:a="http://schemas.openxmlformats.org/drawingml/2006/main" prst="roundRect">
            <a:avLst>
              <a:gd name="adj" fmla="val 13175"/>
            </a:avLst>
          </a:prstGeom>
          <a:solidFill xmlns:a="http://schemas.openxmlformats.org/drawingml/2006/main">
            <a:srgbClr val="4655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followup_ring1">
            <a:extLst xmlns:a="http://schemas.openxmlformats.org/drawingml/2006/main">
              <a:ext uri="{FF2B5EF4-FFF2-40B4-BE49-F238E27FC236}">
                <a16:creationId xmlns:a16="http://schemas.microsoft.com/office/drawing/2014/main" id="{42C5CEFB-8B9E-458B-853B-2541249A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9410" y="3790950"/>
            <a:ext cx="77724" cy="266700"/>
          </a:xfrm>
          <a:prstGeom xmlns:a="http://schemas.openxmlformats.org/drawingml/2006/main" prst="roundRect">
            <a:avLst>
              <a:gd name="adj" fmla="val 49020"/>
            </a:avLst>
          </a:prstGeom>
          <a:solidFill xmlns:a="http://schemas.openxmlformats.org/drawingml/2006/main">
            <a:srgbClr val="46556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8" name="followup_ring2">
            <a:extLst xmlns:a="http://schemas.openxmlformats.org/drawingml/2006/main">
              <a:ext uri="{FF2B5EF4-FFF2-40B4-BE49-F238E27FC236}">
                <a16:creationId xmlns:a16="http://schemas.microsoft.com/office/drawing/2014/main" id="{4AB68D60-EB07-45E3-B965-FA63905D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4901" y="3790950"/>
            <a:ext cx="77724" cy="266700"/>
          </a:xfrm>
          <a:prstGeom xmlns:a="http://schemas.openxmlformats.org/drawingml/2006/main" prst="roundRect">
            <a:avLst>
              <a:gd name="adj" fmla="val 49020"/>
            </a:avLst>
          </a:prstGeom>
          <a:solidFill xmlns:a="http://schemas.openxmlformats.org/drawingml/2006/main">
            <a:srgbClr val="46556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9" name="followup_day_0_0">
            <a:extLst xmlns:a="http://schemas.openxmlformats.org/drawingml/2006/main">
              <a:ext uri="{FF2B5EF4-FFF2-40B4-BE49-F238E27FC236}">
                <a16:creationId xmlns:a16="http://schemas.microsoft.com/office/drawing/2014/main" id="{17685060-F8D5-4FD6-A713-12D2DA8F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0548" y="4263771"/>
            <a:ext cx="155448" cy="132017"/>
          </a:xfrm>
          <a:prstGeom xmlns:a="http://schemas.openxmlformats.org/drawingml/2006/main" prst="roundRect">
            <a:avLst>
              <a:gd name="adj" fmla="val 7215"/>
            </a:avLst>
          </a:prstGeom>
          <a:solidFill xmlns:a="http://schemas.openxmlformats.org/drawingml/2006/main">
            <a:srgbClr val="B0B7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followup_day_0_1">
            <a:extLst xmlns:a="http://schemas.openxmlformats.org/drawingml/2006/main">
              <a:ext uri="{FF2B5EF4-FFF2-40B4-BE49-F238E27FC236}">
                <a16:creationId xmlns:a16="http://schemas.microsoft.com/office/drawing/2014/main" id="{3AD55EA6-C914-44D3-AA7E-4B6831F1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3436" y="4263771"/>
            <a:ext cx="155448" cy="132017"/>
          </a:xfrm>
          <a:prstGeom xmlns:a="http://schemas.openxmlformats.org/drawingml/2006/main" prst="roundRect">
            <a:avLst>
              <a:gd name="adj" fmla="val 7215"/>
            </a:avLst>
          </a:prstGeom>
          <a:solidFill xmlns:a="http://schemas.openxmlformats.org/drawingml/2006/main">
            <a:srgbClr val="B0B7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followup_day_0_2">
            <a:extLst xmlns:a="http://schemas.openxmlformats.org/drawingml/2006/main">
              <a:ext uri="{FF2B5EF4-FFF2-40B4-BE49-F238E27FC236}">
                <a16:creationId xmlns:a16="http://schemas.microsoft.com/office/drawing/2014/main" id="{71B68E8C-B2EB-4479-9D0C-1DC6D687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6323" y="4263771"/>
            <a:ext cx="155448" cy="132017"/>
          </a:xfrm>
          <a:prstGeom xmlns:a="http://schemas.openxmlformats.org/drawingml/2006/main" prst="roundRect">
            <a:avLst>
              <a:gd name="adj" fmla="val 7215"/>
            </a:avLst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followup_day_1_0">
            <a:extLst xmlns:a="http://schemas.openxmlformats.org/drawingml/2006/main">
              <a:ext uri="{FF2B5EF4-FFF2-40B4-BE49-F238E27FC236}">
                <a16:creationId xmlns:a16="http://schemas.microsoft.com/office/drawing/2014/main" id="{C23A168B-26A8-48F4-82A0-7E2DFDD3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0548" y="4452366"/>
            <a:ext cx="155448" cy="132017"/>
          </a:xfrm>
          <a:prstGeom xmlns:a="http://schemas.openxmlformats.org/drawingml/2006/main" prst="roundRect">
            <a:avLst>
              <a:gd name="adj" fmla="val 7215"/>
            </a:avLst>
          </a:prstGeom>
          <a:solidFill xmlns:a="http://schemas.openxmlformats.org/drawingml/2006/main">
            <a:srgbClr val="B0B7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followup_day_1_1">
            <a:extLst xmlns:a="http://schemas.openxmlformats.org/drawingml/2006/main">
              <a:ext uri="{FF2B5EF4-FFF2-40B4-BE49-F238E27FC236}">
                <a16:creationId xmlns:a16="http://schemas.microsoft.com/office/drawing/2014/main" id="{8437FFE6-6689-4E27-ABF6-CAAC10DA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3436" y="4452366"/>
            <a:ext cx="155448" cy="132017"/>
          </a:xfrm>
          <a:prstGeom xmlns:a="http://schemas.openxmlformats.org/drawingml/2006/main" prst="roundRect">
            <a:avLst>
              <a:gd name="adj" fmla="val 7215"/>
            </a:avLst>
          </a:prstGeom>
          <a:solidFill xmlns:a="http://schemas.openxmlformats.org/drawingml/2006/main">
            <a:srgbClr val="B0B7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followup_day_1_2">
            <a:extLst xmlns:a="http://schemas.openxmlformats.org/drawingml/2006/main">
              <a:ext uri="{FF2B5EF4-FFF2-40B4-BE49-F238E27FC236}">
                <a16:creationId xmlns:a16="http://schemas.microsoft.com/office/drawing/2014/main" id="{3601CE51-8315-4B4A-9E35-AFDB12AD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6323" y="4452366"/>
            <a:ext cx="155448" cy="132017"/>
          </a:xfrm>
          <a:prstGeom xmlns:a="http://schemas.openxmlformats.org/drawingml/2006/main" prst="roundRect">
            <a:avLst>
              <a:gd name="adj" fmla="val 7215"/>
            </a:avLst>
          </a:prstGeom>
          <a:solidFill xmlns:a="http://schemas.openxmlformats.org/drawingml/2006/main">
            <a:srgbClr val="B0B7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followup_day_2_0">
            <a:extLst xmlns:a="http://schemas.openxmlformats.org/drawingml/2006/main">
              <a:ext uri="{FF2B5EF4-FFF2-40B4-BE49-F238E27FC236}">
                <a16:creationId xmlns:a16="http://schemas.microsoft.com/office/drawing/2014/main" id="{9EF0507F-1E80-442E-A219-88FD8E20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0548" y="4640961"/>
            <a:ext cx="155448" cy="132017"/>
          </a:xfrm>
          <a:prstGeom xmlns:a="http://schemas.openxmlformats.org/drawingml/2006/main" prst="roundRect">
            <a:avLst>
              <a:gd name="adj" fmla="val 7215"/>
            </a:avLst>
          </a:prstGeom>
          <a:solidFill xmlns:a="http://schemas.openxmlformats.org/drawingml/2006/main">
            <a:srgbClr val="B0B7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followup_day_2_1">
            <a:extLst xmlns:a="http://schemas.openxmlformats.org/drawingml/2006/main">
              <a:ext uri="{FF2B5EF4-FFF2-40B4-BE49-F238E27FC236}">
                <a16:creationId xmlns:a16="http://schemas.microsoft.com/office/drawing/2014/main" id="{E8B2DF86-D6ED-408A-B219-4BAC2341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3436" y="4640961"/>
            <a:ext cx="155448" cy="132017"/>
          </a:xfrm>
          <a:prstGeom xmlns:a="http://schemas.openxmlformats.org/drawingml/2006/main" prst="roundRect">
            <a:avLst>
              <a:gd name="adj" fmla="val 7215"/>
            </a:avLst>
          </a:prstGeom>
          <a:solidFill xmlns:a="http://schemas.openxmlformats.org/drawingml/2006/main">
            <a:srgbClr val="B0B7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followup_day_2_2">
            <a:extLst xmlns:a="http://schemas.openxmlformats.org/drawingml/2006/main">
              <a:ext uri="{FF2B5EF4-FFF2-40B4-BE49-F238E27FC236}">
                <a16:creationId xmlns:a16="http://schemas.microsoft.com/office/drawing/2014/main" id="{5C7E9D5F-CB8C-42E7-AFF4-6C2977CD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6323" y="4640961"/>
            <a:ext cx="155448" cy="132017"/>
          </a:xfrm>
          <a:prstGeom xmlns:a="http://schemas.openxmlformats.org/drawingml/2006/main" prst="roundRect">
            <a:avLst>
              <a:gd name="adj" fmla="val 7215"/>
            </a:avLst>
          </a:prstGeom>
          <a:solidFill xmlns:a="http://schemas.openxmlformats.org/drawingml/2006/main">
            <a:srgbClr val="B0B7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followup_label">
            <a:extLst xmlns:a="http://schemas.openxmlformats.org/drawingml/2006/main">
              <a:ext uri="{FF2B5EF4-FFF2-40B4-BE49-F238E27FC236}">
                <a16:creationId xmlns:a16="http://schemas.microsoft.com/office/drawing/2014/main" id="{9739B37B-4002-4167-9C5A-D0E28A33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4991100"/>
            <a:ext cx="180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Follow-up</a:t>
            </a:r>
          </a:p>
        </p:txBody>
      </p:sp>
      <p:sp>
        <p:nvSpPr>
          <p:cNvPr id="179" name="followup_branch_stem">
            <a:extLst xmlns:a="http://schemas.openxmlformats.org/drawingml/2006/main">
              <a:ext uri="{FF2B5EF4-FFF2-40B4-BE49-F238E27FC236}">
                <a16:creationId xmlns:a16="http://schemas.microsoft.com/office/drawing/2014/main" id="{1D4D1CD4-5793-4595-BEBD-4709A6D7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371975"/>
            <a:ext cx="266700" cy="953"/>
          </a:xfrm>
          <a:custGeom xmlns:a="http://schemas.openxmlformats.org/drawingml/2006/main"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17E88"/>
            </a:solidFill>
            <a:prstDash val="solid"/>
          </a:ln>
        </p:spPr>
      </p:sp>
      <p:sp>
        <p:nvSpPr>
          <p:cNvPr id="180" name="followup_branch_vertical">
            <a:extLst xmlns:a="http://schemas.openxmlformats.org/drawingml/2006/main">
              <a:ext uri="{FF2B5EF4-FFF2-40B4-BE49-F238E27FC236}">
                <a16:creationId xmlns:a16="http://schemas.microsoft.com/office/drawing/2014/main" id="{EC67D34D-13BE-4999-8755-71385149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95675"/>
            <a:ext cx="953" cy="1514475"/>
          </a:xfrm>
          <a:custGeom xmlns:a="http://schemas.openxmlformats.org/drawingml/2006/main">
            <a:pathLst>
              <a:path w="953" h="1514475">
                <a:moveTo>
                  <a:pt x="0" y="0"/>
                </a:moveTo>
                <a:lnTo>
                  <a:pt x="0" y="15144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17E88"/>
            </a:solidFill>
            <a:prstDash val="solid"/>
          </a:ln>
        </p:spPr>
      </p:sp>
      <p:sp>
        <p:nvSpPr>
          <p:cNvPr id="181" name="followup_to_onset_shaft">
            <a:extLst xmlns:a="http://schemas.openxmlformats.org/drawingml/2006/main">
              <a:ext uri="{FF2B5EF4-FFF2-40B4-BE49-F238E27FC236}">
                <a16:creationId xmlns:a16="http://schemas.microsoft.com/office/drawing/2014/main" id="{034603AA-9613-44F9-9656-802EF995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95675"/>
            <a:ext cx="266700" cy="953"/>
          </a:xfrm>
          <a:custGeom xmlns:a="http://schemas.openxmlformats.org/drawingml/2006/main"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17E88"/>
            </a:solidFill>
            <a:prstDash val="solid"/>
          </a:ln>
        </p:spPr>
      </p:sp>
      <p:sp>
        <p:nvSpPr>
          <p:cNvPr id="182" name="followup_to_onset_head">
            <a:extLst xmlns:a="http://schemas.openxmlformats.org/drawingml/2006/main">
              <a:ext uri="{FF2B5EF4-FFF2-40B4-BE49-F238E27FC236}">
                <a16:creationId xmlns:a16="http://schemas.microsoft.com/office/drawing/2014/main" id="{4220CD86-2896-413A-A2D5-36FE6D4C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38525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14300" y="57150"/>
                </a:move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17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followup_to_persistence_shaft">
            <a:extLst xmlns:a="http://schemas.openxmlformats.org/drawingml/2006/main">
              <a:ext uri="{FF2B5EF4-FFF2-40B4-BE49-F238E27FC236}">
                <a16:creationId xmlns:a16="http://schemas.microsoft.com/office/drawing/2014/main" id="{ABBA0735-717F-4EA6-8C8D-A9DEEF01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10150"/>
            <a:ext cx="266700" cy="953"/>
          </a:xfrm>
          <a:custGeom xmlns:a="http://schemas.openxmlformats.org/drawingml/2006/main"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17E88"/>
            </a:solidFill>
            <a:prstDash val="solid"/>
          </a:ln>
        </p:spPr>
      </p:sp>
      <p:sp>
        <p:nvSpPr>
          <p:cNvPr id="184" name="followup_to_persistence_head">
            <a:extLst xmlns:a="http://schemas.openxmlformats.org/drawingml/2006/main">
              <a:ext uri="{FF2B5EF4-FFF2-40B4-BE49-F238E27FC236}">
                <a16:creationId xmlns:a16="http://schemas.microsoft.com/office/drawing/2014/main" id="{52ACD5AF-1FE0-40F3-A08B-5AA32A32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14300" y="57150"/>
                </a:move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17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onset_path">
            <a:extLst xmlns:a="http://schemas.openxmlformats.org/drawingml/2006/main">
              <a:ext uri="{FF2B5EF4-FFF2-40B4-BE49-F238E27FC236}">
                <a16:creationId xmlns:a16="http://schemas.microsoft.com/office/drawing/2014/main" id="{7DA07577-C36B-4ED3-A78D-77A27D78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2943225"/>
            <a:ext cx="43434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onset_baseline_sheet_outline">
            <a:extLst xmlns:a="http://schemas.openxmlformats.org/drawingml/2006/main">
              <a:ext uri="{FF2B5EF4-FFF2-40B4-BE49-F238E27FC236}">
                <a16:creationId xmlns:a16="http://schemas.microsoft.com/office/drawing/2014/main" id="{1C35999C-28C0-4EE3-9B64-3C679485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3171825"/>
            <a:ext cx="438150" cy="733425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72B5"/>
            </a:solidFill>
            <a:prstDash val="solid"/>
          </a:ln>
        </p:spPr>
      </p:sp>
      <p:sp>
        <p:nvSpPr>
          <p:cNvPr id="187" name="onset_baseline_sheet_line_0">
            <a:extLst xmlns:a="http://schemas.openxmlformats.org/drawingml/2006/main">
              <a:ext uri="{FF2B5EF4-FFF2-40B4-BE49-F238E27FC236}">
                <a16:creationId xmlns:a16="http://schemas.microsoft.com/office/drawing/2014/main" id="{66438F9D-6FC7-4D33-8909-A7CA075B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3275" y="3340513"/>
            <a:ext cx="236601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onset_baseline_sheet_line_1">
            <a:extLst xmlns:a="http://schemas.openxmlformats.org/drawingml/2006/main">
              <a:ext uri="{FF2B5EF4-FFF2-40B4-BE49-F238E27FC236}">
                <a16:creationId xmlns:a16="http://schemas.microsoft.com/office/drawing/2014/main" id="{13219928-B83E-40C4-94E4-933A2B0B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3275" y="3472529"/>
            <a:ext cx="236601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onset_baseline_sheet_line_2">
            <a:extLst xmlns:a="http://schemas.openxmlformats.org/drawingml/2006/main">
              <a:ext uri="{FF2B5EF4-FFF2-40B4-BE49-F238E27FC236}">
                <a16:creationId xmlns:a16="http://schemas.microsoft.com/office/drawing/2014/main" id="{0A7B9016-7321-4626-B9F9-290FCB6C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3275" y="3604546"/>
            <a:ext cx="236601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onset_baseline_sheet_line_3">
            <a:extLst xmlns:a="http://schemas.openxmlformats.org/drawingml/2006/main">
              <a:ext uri="{FF2B5EF4-FFF2-40B4-BE49-F238E27FC236}">
                <a16:creationId xmlns:a16="http://schemas.microsoft.com/office/drawing/2014/main" id="{4D7BD922-9D1E-4D27-897B-BBB43126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3275" y="3736562"/>
            <a:ext cx="236601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onset_baseline_label">
            <a:extLst xmlns:a="http://schemas.openxmlformats.org/drawingml/2006/main">
              <a:ext uri="{FF2B5EF4-FFF2-40B4-BE49-F238E27FC236}">
                <a16:creationId xmlns:a16="http://schemas.microsoft.com/office/drawing/2014/main" id="{8FD6CC09-1BD7-42F1-ABF2-8FC41CE1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3171825"/>
            <a:ext cx="1238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 at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192" name="onset_transition_shaft">
            <a:extLst xmlns:a="http://schemas.openxmlformats.org/drawingml/2006/main">
              <a:ext uri="{FF2B5EF4-FFF2-40B4-BE49-F238E27FC236}">
                <a16:creationId xmlns:a16="http://schemas.microsoft.com/office/drawing/2014/main" id="{A06BDBB8-A8AA-4FA2-B04F-D69F9E7C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543300"/>
            <a:ext cx="314325" cy="953"/>
          </a:xfrm>
          <a:custGeom xmlns:a="http://schemas.openxmlformats.org/drawingml/2006/main">
            <a:pathLst>
              <a:path w="314325" h="953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17E88"/>
            </a:solidFill>
            <a:prstDash val="solid"/>
          </a:ln>
        </p:spPr>
      </p:sp>
      <p:sp>
        <p:nvSpPr>
          <p:cNvPr id="193" name="onset_transition_head">
            <a:extLst xmlns:a="http://schemas.openxmlformats.org/drawingml/2006/main">
              <a:ext uri="{FF2B5EF4-FFF2-40B4-BE49-F238E27FC236}">
                <a16:creationId xmlns:a16="http://schemas.microsoft.com/office/drawing/2014/main" id="{1C030F27-49C3-4A6B-B97A-469501A7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48615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14300" y="57150"/>
                </a:move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17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onset_next_sheet_outline">
            <a:extLst xmlns:a="http://schemas.openxmlformats.org/drawingml/2006/main">
              <a:ext uri="{FF2B5EF4-FFF2-40B4-BE49-F238E27FC236}">
                <a16:creationId xmlns:a16="http://schemas.microsoft.com/office/drawing/2014/main" id="{C7E3369F-ECA2-4572-B8BF-F99394ED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6625" y="3171825"/>
            <a:ext cx="438150" cy="733425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72B5"/>
            </a:solidFill>
            <a:prstDash val="solid"/>
          </a:ln>
        </p:spPr>
      </p:sp>
      <p:sp>
        <p:nvSpPr>
          <p:cNvPr id="195" name="onset_next_sheet_line_0">
            <a:extLst xmlns:a="http://schemas.openxmlformats.org/drawingml/2006/main">
              <a:ext uri="{FF2B5EF4-FFF2-40B4-BE49-F238E27FC236}">
                <a16:creationId xmlns:a16="http://schemas.microsoft.com/office/drawing/2014/main" id="{7512B814-65D0-4B0B-8866-42A61F7C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7400" y="3340513"/>
            <a:ext cx="236601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onset_next_sheet_line_1">
            <a:extLst xmlns:a="http://schemas.openxmlformats.org/drawingml/2006/main">
              <a:ext uri="{FF2B5EF4-FFF2-40B4-BE49-F238E27FC236}">
                <a16:creationId xmlns:a16="http://schemas.microsoft.com/office/drawing/2014/main" id="{42DAFB0F-3CF6-45CA-B9FE-0C0736D8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7400" y="3472529"/>
            <a:ext cx="236601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onset_next_sheet_line_2">
            <a:extLst xmlns:a="http://schemas.openxmlformats.org/drawingml/2006/main">
              <a:ext uri="{FF2B5EF4-FFF2-40B4-BE49-F238E27FC236}">
                <a16:creationId xmlns:a16="http://schemas.microsoft.com/office/drawing/2014/main" id="{1BD69DE7-B766-4AE8-9EEB-18962866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7400" y="3604546"/>
            <a:ext cx="236601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onset_next_sheet_line_3">
            <a:extLst xmlns:a="http://schemas.openxmlformats.org/drawingml/2006/main">
              <a:ext uri="{FF2B5EF4-FFF2-40B4-BE49-F238E27FC236}">
                <a16:creationId xmlns:a16="http://schemas.microsoft.com/office/drawing/2014/main" id="{F26A3FD7-EDA5-4FC4-90BA-88FB133E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7400" y="3736562"/>
            <a:ext cx="236601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onset_next_label">
            <a:extLst xmlns:a="http://schemas.openxmlformats.org/drawingml/2006/main">
              <a:ext uri="{FF2B5EF4-FFF2-40B4-BE49-F238E27FC236}">
                <a16:creationId xmlns:a16="http://schemas.microsoft.com/office/drawing/2014/main" id="{245313C8-025A-40C9-B2EC-4CB43DB4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0" y="3171825"/>
            <a:ext cx="1095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High at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follow-up</a:t>
            </a:r>
          </a:p>
        </p:txBody>
      </p:sp>
      <p:sp>
        <p:nvSpPr>
          <p:cNvPr id="200" name="onset_to_label_shaft">
            <a:extLst xmlns:a="http://schemas.openxmlformats.org/drawingml/2006/main">
              <a:ext uri="{FF2B5EF4-FFF2-40B4-BE49-F238E27FC236}">
                <a16:creationId xmlns:a16="http://schemas.microsoft.com/office/drawing/2014/main" id="{B33539C7-92D9-4EED-B996-15A35243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3543300"/>
            <a:ext cx="219075" cy="953"/>
          </a:xfrm>
          <a:custGeom xmlns:a="http://schemas.openxmlformats.org/drawingml/2006/main">
            <a:pathLst>
              <a:path w="219075" h="953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17E88"/>
            </a:solidFill>
            <a:prstDash val="solid"/>
          </a:ln>
        </p:spPr>
      </p:sp>
      <p:sp>
        <p:nvSpPr>
          <p:cNvPr id="201" name="onset_to_label_head">
            <a:extLst xmlns:a="http://schemas.openxmlformats.org/drawingml/2006/main">
              <a:ext uri="{FF2B5EF4-FFF2-40B4-BE49-F238E27FC236}">
                <a16:creationId xmlns:a16="http://schemas.microsoft.com/office/drawing/2014/main" id="{17959C31-5D09-469C-B103-B72C47C6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48615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14300" y="57150"/>
                </a:move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17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onset_endpoint">
            <a:extLst xmlns:a="http://schemas.openxmlformats.org/drawingml/2006/main">
              <a:ext uri="{FF2B5EF4-FFF2-40B4-BE49-F238E27FC236}">
                <a16:creationId xmlns:a16="http://schemas.microsoft.com/office/drawing/2014/main" id="{E165F24E-5EA3-41D3-96EA-20E29408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0" y="2952750"/>
            <a:ext cx="1838325" cy="12192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C1D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onset_endpoint_label">
            <a:extLst xmlns:a="http://schemas.openxmlformats.org/drawingml/2006/main">
              <a:ext uri="{FF2B5EF4-FFF2-40B4-BE49-F238E27FC236}">
                <a16:creationId xmlns:a16="http://schemas.microsoft.com/office/drawing/2014/main" id="{F029AD72-DA8F-48A2-A450-59DA9FD8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58775" y="3219450"/>
            <a:ext cx="18192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Onset</a:t>
            </a:r>
          </a:p>
        </p:txBody>
      </p:sp>
      <p:sp>
        <p:nvSpPr>
          <p:cNvPr id="204" name="persistence_path">
            <a:extLst xmlns:a="http://schemas.openxmlformats.org/drawingml/2006/main">
              <a:ext uri="{FF2B5EF4-FFF2-40B4-BE49-F238E27FC236}">
                <a16:creationId xmlns:a16="http://schemas.microsoft.com/office/drawing/2014/main" id="{9E639AEE-D669-4AB7-AC95-07175062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4419600"/>
            <a:ext cx="43434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ED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persistence_baseline_sheet_outline">
            <a:extLst xmlns:a="http://schemas.openxmlformats.org/drawingml/2006/main">
              <a:ext uri="{FF2B5EF4-FFF2-40B4-BE49-F238E27FC236}">
                <a16:creationId xmlns:a16="http://schemas.microsoft.com/office/drawing/2014/main" id="{CF38DBBB-4A96-4906-981E-13911AC5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4648200"/>
            <a:ext cx="438150" cy="733425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0854E"/>
            </a:solidFill>
            <a:prstDash val="solid"/>
          </a:ln>
        </p:spPr>
      </p:sp>
      <p:sp>
        <p:nvSpPr>
          <p:cNvPr id="206" name="persistence_baseline_sheet_line_0">
            <a:extLst xmlns:a="http://schemas.openxmlformats.org/drawingml/2006/main">
              <a:ext uri="{FF2B5EF4-FFF2-40B4-BE49-F238E27FC236}">
                <a16:creationId xmlns:a16="http://schemas.microsoft.com/office/drawing/2014/main" id="{56543A2E-47F5-43C1-9A4A-6F6A5396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3275" y="4816888"/>
            <a:ext cx="236601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ersistence_baseline_sheet_line_1">
            <a:extLst xmlns:a="http://schemas.openxmlformats.org/drawingml/2006/main">
              <a:ext uri="{FF2B5EF4-FFF2-40B4-BE49-F238E27FC236}">
                <a16:creationId xmlns:a16="http://schemas.microsoft.com/office/drawing/2014/main" id="{D39ECDFF-2641-4736-AB96-303B0D11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3275" y="4948904"/>
            <a:ext cx="236601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persistence_baseline_sheet_line_2">
            <a:extLst xmlns:a="http://schemas.openxmlformats.org/drawingml/2006/main">
              <a:ext uri="{FF2B5EF4-FFF2-40B4-BE49-F238E27FC236}">
                <a16:creationId xmlns:a16="http://schemas.microsoft.com/office/drawing/2014/main" id="{CC3C0A3B-1915-45E1-B51E-7EFCDC6A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3275" y="5080921"/>
            <a:ext cx="236601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persistence_baseline_sheet_line_3">
            <a:extLst xmlns:a="http://schemas.openxmlformats.org/drawingml/2006/main">
              <a:ext uri="{FF2B5EF4-FFF2-40B4-BE49-F238E27FC236}">
                <a16:creationId xmlns:a16="http://schemas.microsoft.com/office/drawing/2014/main" id="{7C82085D-3A55-43C9-9AE1-A44EA67D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3275" y="5212937"/>
            <a:ext cx="236601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persistence_baseline_label">
            <a:extLst xmlns:a="http://schemas.openxmlformats.org/drawingml/2006/main">
              <a:ext uri="{FF2B5EF4-FFF2-40B4-BE49-F238E27FC236}">
                <a16:creationId xmlns:a16="http://schemas.microsoft.com/office/drawing/2014/main" id="{900085EE-C07F-4450-83AC-2BB0F913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4648200"/>
            <a:ext cx="1238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High at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211" name="persistence_transition_shaft">
            <a:extLst xmlns:a="http://schemas.openxmlformats.org/drawingml/2006/main">
              <a:ext uri="{FF2B5EF4-FFF2-40B4-BE49-F238E27FC236}">
                <a16:creationId xmlns:a16="http://schemas.microsoft.com/office/drawing/2014/main" id="{E5B5D909-F24E-4EC8-A456-8C691C7E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019675"/>
            <a:ext cx="314325" cy="953"/>
          </a:xfrm>
          <a:custGeom xmlns:a="http://schemas.openxmlformats.org/drawingml/2006/main">
            <a:pathLst>
              <a:path w="314325" h="953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17E88"/>
            </a:solidFill>
            <a:prstDash val="solid"/>
          </a:ln>
        </p:spPr>
      </p:sp>
      <p:sp>
        <p:nvSpPr>
          <p:cNvPr id="212" name="persistence_transition_head">
            <a:extLst xmlns:a="http://schemas.openxmlformats.org/drawingml/2006/main">
              <a:ext uri="{FF2B5EF4-FFF2-40B4-BE49-F238E27FC236}">
                <a16:creationId xmlns:a16="http://schemas.microsoft.com/office/drawing/2014/main" id="{224CFC21-41BC-4569-B840-D79BBF54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962525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14300" y="57150"/>
                </a:move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17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persistence_next_sheet_outline">
            <a:extLst xmlns:a="http://schemas.openxmlformats.org/drawingml/2006/main">
              <a:ext uri="{FF2B5EF4-FFF2-40B4-BE49-F238E27FC236}">
                <a16:creationId xmlns:a16="http://schemas.microsoft.com/office/drawing/2014/main" id="{DBCFB4B9-A7C9-482F-A29F-17162298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6625" y="4648200"/>
            <a:ext cx="438150" cy="733425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0854E"/>
            </a:solidFill>
            <a:prstDash val="solid"/>
          </a:ln>
        </p:spPr>
      </p:sp>
      <p:sp>
        <p:nvSpPr>
          <p:cNvPr id="214" name="persistence_next_sheet_line_0">
            <a:extLst xmlns:a="http://schemas.openxmlformats.org/drawingml/2006/main">
              <a:ext uri="{FF2B5EF4-FFF2-40B4-BE49-F238E27FC236}">
                <a16:creationId xmlns:a16="http://schemas.microsoft.com/office/drawing/2014/main" id="{DC1ED396-D98D-4BFB-83AA-B5720AF0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7400" y="4816888"/>
            <a:ext cx="236601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ersistence_next_sheet_line_1">
            <a:extLst xmlns:a="http://schemas.openxmlformats.org/drawingml/2006/main">
              <a:ext uri="{FF2B5EF4-FFF2-40B4-BE49-F238E27FC236}">
                <a16:creationId xmlns:a16="http://schemas.microsoft.com/office/drawing/2014/main" id="{9A460461-AD81-4925-B319-09D011CE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7400" y="4948904"/>
            <a:ext cx="236601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persistence_next_sheet_line_2">
            <a:extLst xmlns:a="http://schemas.openxmlformats.org/drawingml/2006/main">
              <a:ext uri="{FF2B5EF4-FFF2-40B4-BE49-F238E27FC236}">
                <a16:creationId xmlns:a16="http://schemas.microsoft.com/office/drawing/2014/main" id="{8A58713E-D446-4EA3-AE52-785E3DBE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7400" y="5080921"/>
            <a:ext cx="236601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ersistence_next_sheet_line_3">
            <a:extLst xmlns:a="http://schemas.openxmlformats.org/drawingml/2006/main">
              <a:ext uri="{FF2B5EF4-FFF2-40B4-BE49-F238E27FC236}">
                <a16:creationId xmlns:a16="http://schemas.microsoft.com/office/drawing/2014/main" id="{6E68FB02-F711-44E2-AE35-DE1B7574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7400" y="5212937"/>
            <a:ext cx="236601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ersistence_next_label">
            <a:extLst xmlns:a="http://schemas.openxmlformats.org/drawingml/2006/main">
              <a:ext uri="{FF2B5EF4-FFF2-40B4-BE49-F238E27FC236}">
                <a16:creationId xmlns:a16="http://schemas.microsoft.com/office/drawing/2014/main" id="{A4E97B3B-0746-4208-B7EE-A6538C3D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0" y="4648200"/>
            <a:ext cx="1095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High at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follow-up</a:t>
            </a:r>
          </a:p>
        </p:txBody>
      </p:sp>
      <p:sp>
        <p:nvSpPr>
          <p:cNvPr id="219" name="persistence_to_label_shaft">
            <a:extLst xmlns:a="http://schemas.openxmlformats.org/drawingml/2006/main">
              <a:ext uri="{FF2B5EF4-FFF2-40B4-BE49-F238E27FC236}">
                <a16:creationId xmlns:a16="http://schemas.microsoft.com/office/drawing/2014/main" id="{CD490E5A-A859-449B-9BC8-B87D30D0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5019675"/>
            <a:ext cx="219075" cy="953"/>
          </a:xfrm>
          <a:custGeom xmlns:a="http://schemas.openxmlformats.org/drawingml/2006/main">
            <a:pathLst>
              <a:path w="219075" h="953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17E88"/>
            </a:solidFill>
            <a:prstDash val="solid"/>
          </a:ln>
        </p:spPr>
      </p:sp>
      <p:sp>
        <p:nvSpPr>
          <p:cNvPr id="220" name="persistence_to_label_head">
            <a:extLst xmlns:a="http://schemas.openxmlformats.org/drawingml/2006/main">
              <a:ext uri="{FF2B5EF4-FFF2-40B4-BE49-F238E27FC236}">
                <a16:creationId xmlns:a16="http://schemas.microsoft.com/office/drawing/2014/main" id="{BEE9467C-0D94-4F39-998E-D4BC564F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962525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14300" y="57150"/>
                </a:move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17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ersistence_endpoint">
            <a:extLst xmlns:a="http://schemas.openxmlformats.org/drawingml/2006/main">
              <a:ext uri="{FF2B5EF4-FFF2-40B4-BE49-F238E27FC236}">
                <a16:creationId xmlns:a16="http://schemas.microsoft.com/office/drawing/2014/main" id="{A202593F-7E1B-46B4-86A5-74CB4D38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0" y="4429125"/>
            <a:ext cx="1838325" cy="12192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D4E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persistence_endpoint_label">
            <a:extLst xmlns:a="http://schemas.openxmlformats.org/drawingml/2006/main">
              <a:ext uri="{FF2B5EF4-FFF2-40B4-BE49-F238E27FC236}">
                <a16:creationId xmlns:a16="http://schemas.microsoft.com/office/drawing/2014/main" id="{4D9BEDD2-F0BB-459C-BF3E-9DC4E440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58775" y="4695825"/>
            <a:ext cx="18192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Persistence</a:t>
            </a:r>
          </a:p>
        </p:txBody>
      </p:sp>
      <p:sp>
        <p:nvSpPr>
          <p:cNvPr id="223" name="reference_bracket_left">
            <a:extLst xmlns:a="http://schemas.openxmlformats.org/drawingml/2006/main">
              <a:ext uri="{FF2B5EF4-FFF2-40B4-BE49-F238E27FC236}">
                <a16:creationId xmlns:a16="http://schemas.microsoft.com/office/drawing/2014/main" id="{97455359-9183-467B-ADD6-0B7F86A1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772150"/>
            <a:ext cx="953" cy="104775"/>
          </a:xfrm>
          <a:custGeom xmlns:a="http://schemas.openxmlformats.org/drawingml/2006/main"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17E88"/>
            </a:solidFill>
            <a:prstDash val="solid"/>
          </a:ln>
        </p:spPr>
      </p:sp>
      <p:sp>
        <p:nvSpPr>
          <p:cNvPr id="224" name="reference_bracket_base">
            <a:extLst xmlns:a="http://schemas.openxmlformats.org/drawingml/2006/main">
              <a:ext uri="{FF2B5EF4-FFF2-40B4-BE49-F238E27FC236}">
                <a16:creationId xmlns:a16="http://schemas.microsoft.com/office/drawing/2014/main" id="{871B5B3B-96C1-4928-B46E-FE301F1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876925"/>
            <a:ext cx="6438900" cy="953"/>
          </a:xfrm>
          <a:custGeom xmlns:a="http://schemas.openxmlformats.org/drawingml/2006/main">
            <a:pathLst>
              <a:path w="6438900" h="953">
                <a:moveTo>
                  <a:pt x="0" y="0"/>
                </a:moveTo>
                <a:lnTo>
                  <a:pt x="6438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17E88"/>
            </a:solidFill>
            <a:prstDash val="solid"/>
          </a:ln>
        </p:spPr>
      </p:sp>
      <p:sp>
        <p:nvSpPr>
          <p:cNvPr id="225" name="reference_bracket_right">
            <a:extLst xmlns:a="http://schemas.openxmlformats.org/drawingml/2006/main">
              <a:ext uri="{FF2B5EF4-FFF2-40B4-BE49-F238E27FC236}">
                <a16:creationId xmlns:a16="http://schemas.microsoft.com/office/drawing/2014/main" id="{3341CAFD-3B02-41BB-A37E-EFC0CDA6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425" y="5772150"/>
            <a:ext cx="953" cy="104775"/>
          </a:xfrm>
          <a:custGeom xmlns:a="http://schemas.openxmlformats.org/drawingml/2006/main"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17E88"/>
            </a:solidFill>
            <a:prstDash val="solid"/>
          </a:ln>
        </p:spPr>
      </p:sp>
      <p:sp>
        <p:nvSpPr>
          <p:cNvPr id="226" name="reference">
            <a:extLst xmlns:a="http://schemas.openxmlformats.org/drawingml/2006/main">
              <a:ext uri="{FF2B5EF4-FFF2-40B4-BE49-F238E27FC236}">
                <a16:creationId xmlns:a16="http://schemas.microsoft.com/office/drawing/2014/main" id="{5375A8CA-D737-4851-94E4-6F006DBA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48675" y="5953125"/>
            <a:ext cx="63531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Reference: low at follow-up</a:t>
            </a:r>
          </a:p>
        </p:txBody>
      </p:sp>
      <p:sp>
        <p:nvSpPr>
          <p:cNvPr id="227" name="analysis_separator">
            <a:extLst xmlns:a="http://schemas.openxmlformats.org/drawingml/2006/main">
              <a:ext uri="{FF2B5EF4-FFF2-40B4-BE49-F238E27FC236}">
                <a16:creationId xmlns:a16="http://schemas.microsoft.com/office/drawing/2014/main" id="{89F4995E-FD60-427F-97EE-8A81E6F9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515100"/>
            <a:ext cx="14573250" cy="953"/>
          </a:xfrm>
          <a:custGeom xmlns:a="http://schemas.openxmlformats.org/drawingml/2006/main">
            <a:pathLst>
              <a:path w="14573250" h="953">
                <a:moveTo>
                  <a:pt x="0" y="0"/>
                </a:moveTo>
                <a:lnTo>
                  <a:pt x="14573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9AA4AA"/>
            </a:solidFill>
            <a:prstDash val="solid"/>
          </a:ln>
        </p:spPr>
      </p:sp>
      <p:sp>
        <p:nvSpPr>
          <p:cNvPr id="228" name="analysis_stem_shaft">
            <a:extLst xmlns:a="http://schemas.openxmlformats.org/drawingml/2006/main">
              <a:ext uri="{FF2B5EF4-FFF2-40B4-BE49-F238E27FC236}">
                <a16:creationId xmlns:a16="http://schemas.microsoft.com/office/drawing/2014/main" id="{514139D5-F228-4848-B078-D0B5A502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953" cy="247650"/>
          </a:xfrm>
          <a:custGeom xmlns:a="http://schemas.openxmlformats.org/drawingml/2006/main">
            <a:pathLst>
              <a:path w="953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17E88"/>
            </a:solidFill>
            <a:prstDash val="solid"/>
          </a:ln>
        </p:spPr>
      </p:sp>
      <p:sp>
        <p:nvSpPr>
          <p:cNvPr id="229" name="analysis_stem_head">
            <a:extLst xmlns:a="http://schemas.openxmlformats.org/drawingml/2006/main">
              <a:ext uri="{FF2B5EF4-FFF2-40B4-BE49-F238E27FC236}">
                <a16:creationId xmlns:a16="http://schemas.microsoft.com/office/drawing/2014/main" id="{2EE16A88-893B-4384-8220-03881C96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96075"/>
            <a:ext cx="114300" cy="114300"/>
          </a:xfrm>
          <a:custGeom xmlns:a="http://schemas.openxmlformats.org/drawingml/2006/main">
            <a:pathLst>
              <a:path w="114300" h="114300">
                <a:moveTo>
                  <a:pt x="57150" y="11430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717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analysis_divider_1">
            <a:extLst xmlns:a="http://schemas.openxmlformats.org/drawingml/2006/main">
              <a:ext uri="{FF2B5EF4-FFF2-40B4-BE49-F238E27FC236}">
                <a16:creationId xmlns:a16="http://schemas.microsoft.com/office/drawing/2014/main" id="{5169FC25-D6D2-4973-A738-B2D0C5BC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953250"/>
            <a:ext cx="953" cy="933450"/>
          </a:xfrm>
          <a:custGeom xmlns:a="http://schemas.openxmlformats.org/drawingml/2006/main">
            <a:pathLst>
              <a:path w="953" h="933450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9AA4AA"/>
            </a:solidFill>
            <a:prstDash val="solid"/>
          </a:ln>
        </p:spPr>
      </p:sp>
      <p:sp>
        <p:nvSpPr>
          <p:cNvPr id="231" name="analysis_divider_2">
            <a:extLst xmlns:a="http://schemas.openxmlformats.org/drawingml/2006/main">
              <a:ext uri="{FF2B5EF4-FFF2-40B4-BE49-F238E27FC236}">
                <a16:creationId xmlns:a16="http://schemas.microsoft.com/office/drawing/2014/main" id="{75E90887-5617-40A0-AABA-7F4B30AB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6953250"/>
            <a:ext cx="953" cy="933450"/>
          </a:xfrm>
          <a:custGeom xmlns:a="http://schemas.openxmlformats.org/drawingml/2006/main">
            <a:pathLst>
              <a:path w="953" h="933450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9AA4AA"/>
            </a:solidFill>
            <a:prstDash val="solid"/>
          </a:ln>
        </p:spPr>
      </p:sp>
      <p:sp>
        <p:nvSpPr>
          <p:cNvPr id="232" name="analysis_cohort_red_outline">
            <a:extLst xmlns:a="http://schemas.openxmlformats.org/drawingml/2006/main">
              <a:ext uri="{FF2B5EF4-FFF2-40B4-BE49-F238E27FC236}">
                <a16:creationId xmlns:a16="http://schemas.microsoft.com/office/drawing/2014/main" id="{11CB15BE-12A7-4040-A7F6-7C3E1134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7000875"/>
            <a:ext cx="400050" cy="6667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BC3C29"/>
            </a:solidFill>
            <a:prstDash val="solid"/>
          </a:ln>
        </p:spPr>
      </p:sp>
      <p:sp>
        <p:nvSpPr>
          <p:cNvPr id="233" name="analysis_cohort_red_line_0">
            <a:extLst xmlns:a="http://schemas.openxmlformats.org/drawingml/2006/main">
              <a:ext uri="{FF2B5EF4-FFF2-40B4-BE49-F238E27FC236}">
                <a16:creationId xmlns:a16="http://schemas.microsoft.com/office/drawing/2014/main" id="{4A9969A5-CF79-49CA-9147-5EF03FE9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4512" y="7154228"/>
            <a:ext cx="216027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analysis_cohort_red_line_1">
            <a:extLst xmlns:a="http://schemas.openxmlformats.org/drawingml/2006/main">
              <a:ext uri="{FF2B5EF4-FFF2-40B4-BE49-F238E27FC236}">
                <a16:creationId xmlns:a16="http://schemas.microsoft.com/office/drawing/2014/main" id="{769E5E36-27BD-4BF9-B85A-5A97501F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4512" y="7274243"/>
            <a:ext cx="216027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analysis_cohort_red_line_2">
            <a:extLst xmlns:a="http://schemas.openxmlformats.org/drawingml/2006/main">
              <a:ext uri="{FF2B5EF4-FFF2-40B4-BE49-F238E27FC236}">
                <a16:creationId xmlns:a16="http://schemas.microsoft.com/office/drawing/2014/main" id="{E06D3F58-CE39-40A5-8846-80594E0B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4512" y="7394258"/>
            <a:ext cx="216027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analysis_cohort_red_line_3">
            <a:extLst xmlns:a="http://schemas.openxmlformats.org/drawingml/2006/main">
              <a:ext uri="{FF2B5EF4-FFF2-40B4-BE49-F238E27FC236}">
                <a16:creationId xmlns:a16="http://schemas.microsoft.com/office/drawing/2014/main" id="{3147A76C-AC2D-469B-8F25-7FD43747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4512" y="7514273"/>
            <a:ext cx="216027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analysis_cohort_blue_outline">
            <a:extLst xmlns:a="http://schemas.openxmlformats.org/drawingml/2006/main">
              <a:ext uri="{FF2B5EF4-FFF2-40B4-BE49-F238E27FC236}">
                <a16:creationId xmlns:a16="http://schemas.microsoft.com/office/drawing/2014/main" id="{B5302A80-AC97-49E4-AD83-08A0A1BF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7325" y="7143750"/>
            <a:ext cx="400050" cy="6667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72B5"/>
            </a:solidFill>
            <a:prstDash val="solid"/>
          </a:ln>
        </p:spPr>
      </p:sp>
      <p:sp>
        <p:nvSpPr>
          <p:cNvPr id="238" name="analysis_cohort_blue_line_0">
            <a:extLst xmlns:a="http://schemas.openxmlformats.org/drawingml/2006/main">
              <a:ext uri="{FF2B5EF4-FFF2-40B4-BE49-F238E27FC236}">
                <a16:creationId xmlns:a16="http://schemas.microsoft.com/office/drawing/2014/main" id="{0DB34FF6-34D9-4E19-8500-2B887A6F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9337" y="7297103"/>
            <a:ext cx="216027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analysis_cohort_blue_line_1">
            <a:extLst xmlns:a="http://schemas.openxmlformats.org/drawingml/2006/main">
              <a:ext uri="{FF2B5EF4-FFF2-40B4-BE49-F238E27FC236}">
                <a16:creationId xmlns:a16="http://schemas.microsoft.com/office/drawing/2014/main" id="{05EE220F-3491-4063-A230-4147E5A1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9337" y="7417118"/>
            <a:ext cx="216027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analysis_cohort_blue_line_2">
            <a:extLst xmlns:a="http://schemas.openxmlformats.org/drawingml/2006/main">
              <a:ext uri="{FF2B5EF4-FFF2-40B4-BE49-F238E27FC236}">
                <a16:creationId xmlns:a16="http://schemas.microsoft.com/office/drawing/2014/main" id="{AFE6807D-822E-4515-A882-43926E31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9337" y="7537133"/>
            <a:ext cx="216027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analysis_cohort_blue_line_3">
            <a:extLst xmlns:a="http://schemas.openxmlformats.org/drawingml/2006/main">
              <a:ext uri="{FF2B5EF4-FFF2-40B4-BE49-F238E27FC236}">
                <a16:creationId xmlns:a16="http://schemas.microsoft.com/office/drawing/2014/main" id="{8FD10D41-FBE7-4BCB-9BF9-880561E2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9337" y="7657148"/>
            <a:ext cx="216027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analysis_cohort_orange_outline">
            <a:extLst xmlns:a="http://schemas.openxmlformats.org/drawingml/2006/main">
              <a:ext uri="{FF2B5EF4-FFF2-40B4-BE49-F238E27FC236}">
                <a16:creationId xmlns:a16="http://schemas.microsoft.com/office/drawing/2014/main" id="{E60A8BC7-69A3-4187-9DB8-BD2CEFD6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2150" y="7286625"/>
            <a:ext cx="400050" cy="6667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E18727"/>
            </a:solidFill>
            <a:prstDash val="solid"/>
          </a:ln>
        </p:spPr>
      </p:sp>
      <p:sp>
        <p:nvSpPr>
          <p:cNvPr id="243" name="analysis_cohort_orange_line_0">
            <a:extLst xmlns:a="http://schemas.openxmlformats.org/drawingml/2006/main">
              <a:ext uri="{FF2B5EF4-FFF2-40B4-BE49-F238E27FC236}">
                <a16:creationId xmlns:a16="http://schemas.microsoft.com/office/drawing/2014/main" id="{E8E6F0CD-3CBD-4672-A290-9DD15AC5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4162" y="7439978"/>
            <a:ext cx="216027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7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analysis_cohort_orange_line_1">
            <a:extLst xmlns:a="http://schemas.openxmlformats.org/drawingml/2006/main">
              <a:ext uri="{FF2B5EF4-FFF2-40B4-BE49-F238E27FC236}">
                <a16:creationId xmlns:a16="http://schemas.microsoft.com/office/drawing/2014/main" id="{5EA38C2B-E189-4AEA-B6B8-66EEF82C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4162" y="7559993"/>
            <a:ext cx="216027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7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analysis_cohort_orange_line_2">
            <a:extLst xmlns:a="http://schemas.openxmlformats.org/drawingml/2006/main">
              <a:ext uri="{FF2B5EF4-FFF2-40B4-BE49-F238E27FC236}">
                <a16:creationId xmlns:a16="http://schemas.microsoft.com/office/drawing/2014/main" id="{B3EDA93E-B942-4269-B7BC-F21A2FBD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4162" y="7680008"/>
            <a:ext cx="216027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7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analysis_cohort_orange_line_3">
            <a:extLst xmlns:a="http://schemas.openxmlformats.org/drawingml/2006/main">
              <a:ext uri="{FF2B5EF4-FFF2-40B4-BE49-F238E27FC236}">
                <a16:creationId xmlns:a16="http://schemas.microsoft.com/office/drawing/2014/main" id="{2AAADD9C-9558-4B9C-A83C-DE5882AE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4162" y="7800023"/>
            <a:ext cx="216027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7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analysis_meta">
            <a:extLst xmlns:a="http://schemas.openxmlformats.org/drawingml/2006/main">
              <a:ext uri="{FF2B5EF4-FFF2-40B4-BE49-F238E27FC236}">
                <a16:creationId xmlns:a16="http://schemas.microsoft.com/office/drawing/2014/main" id="{1E20017F-BACC-439B-A965-35F19F1B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7077075"/>
            <a:ext cx="262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Cohort estimates</a:t>
            </a:r>
          </a:p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&amp; meta-analysis</a:t>
            </a:r>
          </a:p>
        </p:txBody>
      </p:sp>
      <p:sp>
        <p:nvSpPr>
          <p:cNvPr id="248" name="analysis_absolute_case">
            <a:extLst xmlns:a="http://schemas.openxmlformats.org/drawingml/2006/main">
              <a:ext uri="{FF2B5EF4-FFF2-40B4-BE49-F238E27FC236}">
                <a16:creationId xmlns:a16="http://schemas.microsoft.com/office/drawing/2014/main" id="{A6D76C4D-47A2-4538-8B92-A3CB29C2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400" y="6962775"/>
            <a:ext cx="695325" cy="895350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465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analysis_absolute_screen">
            <a:extLst xmlns:a="http://schemas.openxmlformats.org/drawingml/2006/main">
              <a:ext uri="{FF2B5EF4-FFF2-40B4-BE49-F238E27FC236}">
                <a16:creationId xmlns:a16="http://schemas.microsoft.com/office/drawing/2014/main" id="{D4A40894-A9D3-46B3-9FBC-DCD49354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2699" y="7070217"/>
            <a:ext cx="486727" cy="179070"/>
          </a:xfrm>
          <a:prstGeom xmlns:a="http://schemas.openxmlformats.org/drawingml/2006/main" prst="roundRect">
            <a:avLst>
              <a:gd name="adj" fmla="val 15957"/>
            </a:avLst>
          </a:prstGeom>
          <a:solidFill xmlns:a="http://schemas.openxmlformats.org/drawingml/2006/main">
            <a:srgbClr val="DC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analysis_absolute_button_0_0">
            <a:extLst xmlns:a="http://schemas.openxmlformats.org/drawingml/2006/main">
              <a:ext uri="{FF2B5EF4-FFF2-40B4-BE49-F238E27FC236}">
                <a16:creationId xmlns:a16="http://schemas.microsoft.com/office/drawing/2014/main" id="{3E19F7CF-5A4B-465D-B156-A399E1A5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5746" y="7347776"/>
            <a:ext cx="111252" cy="107442"/>
          </a:xfrm>
          <a:prstGeom xmlns:a="http://schemas.openxmlformats.org/drawingml/2006/main" prst="roundRect">
            <a:avLst>
              <a:gd name="adj" fmla="val 17730"/>
            </a:avLst>
          </a:prstGeom>
          <a:solidFill xmlns:a="http://schemas.openxmlformats.org/drawingml/2006/main">
            <a:srgbClr val="DC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analysis_absolute_button_0_1">
            <a:extLst xmlns:a="http://schemas.openxmlformats.org/drawingml/2006/main">
              <a:ext uri="{FF2B5EF4-FFF2-40B4-BE49-F238E27FC236}">
                <a16:creationId xmlns:a16="http://schemas.microsoft.com/office/drawing/2014/main" id="{D5B698E4-EA4B-4C7D-A77E-C703F790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9577" y="7347776"/>
            <a:ext cx="111252" cy="107442"/>
          </a:xfrm>
          <a:prstGeom xmlns:a="http://schemas.openxmlformats.org/drawingml/2006/main" prst="roundRect">
            <a:avLst>
              <a:gd name="adj" fmla="val 17730"/>
            </a:avLst>
          </a:prstGeom>
          <a:solidFill xmlns:a="http://schemas.openxmlformats.org/drawingml/2006/main">
            <a:srgbClr val="DC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analysis_absolute_button_0_2">
            <a:extLst xmlns:a="http://schemas.openxmlformats.org/drawingml/2006/main">
              <a:ext uri="{FF2B5EF4-FFF2-40B4-BE49-F238E27FC236}">
                <a16:creationId xmlns:a16="http://schemas.microsoft.com/office/drawing/2014/main" id="{D66932A6-5D17-40BB-A268-183CAD6C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408" y="7347776"/>
            <a:ext cx="111252" cy="107442"/>
          </a:xfrm>
          <a:prstGeom xmlns:a="http://schemas.openxmlformats.org/drawingml/2006/main" prst="roundRect">
            <a:avLst>
              <a:gd name="adj" fmla="val 17730"/>
            </a:avLst>
          </a:prstGeom>
          <a:solidFill xmlns:a="http://schemas.openxmlformats.org/drawingml/2006/main">
            <a:srgbClr val="DC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analysis_absolute_button_1_0">
            <a:extLst xmlns:a="http://schemas.openxmlformats.org/drawingml/2006/main">
              <a:ext uri="{FF2B5EF4-FFF2-40B4-BE49-F238E27FC236}">
                <a16:creationId xmlns:a16="http://schemas.microsoft.com/office/drawing/2014/main" id="{40C4F78D-CFF6-4F3F-BE00-B4EF2926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5746" y="7508939"/>
            <a:ext cx="111252" cy="107442"/>
          </a:xfrm>
          <a:prstGeom xmlns:a="http://schemas.openxmlformats.org/drawingml/2006/main" prst="roundRect">
            <a:avLst>
              <a:gd name="adj" fmla="val 17730"/>
            </a:avLst>
          </a:prstGeom>
          <a:solidFill xmlns:a="http://schemas.openxmlformats.org/drawingml/2006/main">
            <a:srgbClr val="DC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analysis_absolute_button_1_1">
            <a:extLst xmlns:a="http://schemas.openxmlformats.org/drawingml/2006/main">
              <a:ext uri="{FF2B5EF4-FFF2-40B4-BE49-F238E27FC236}">
                <a16:creationId xmlns:a16="http://schemas.microsoft.com/office/drawing/2014/main" id="{C353898E-628B-4E7B-9E0B-C0EAAB9D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9577" y="7508939"/>
            <a:ext cx="111252" cy="107442"/>
          </a:xfrm>
          <a:prstGeom xmlns:a="http://schemas.openxmlformats.org/drawingml/2006/main" prst="roundRect">
            <a:avLst>
              <a:gd name="adj" fmla="val 17730"/>
            </a:avLst>
          </a:prstGeom>
          <a:solidFill xmlns:a="http://schemas.openxmlformats.org/drawingml/2006/main">
            <a:srgbClr val="DC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analysis_absolute_button_1_2">
            <a:extLst xmlns:a="http://schemas.openxmlformats.org/drawingml/2006/main">
              <a:ext uri="{FF2B5EF4-FFF2-40B4-BE49-F238E27FC236}">
                <a16:creationId xmlns:a16="http://schemas.microsoft.com/office/drawing/2014/main" id="{8FC62310-E032-4B0F-B61F-2A6FBC95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408" y="7508939"/>
            <a:ext cx="111252" cy="107442"/>
          </a:xfrm>
          <a:prstGeom xmlns:a="http://schemas.openxmlformats.org/drawingml/2006/main" prst="roundRect">
            <a:avLst>
              <a:gd name="adj" fmla="val 17730"/>
            </a:avLst>
          </a:prstGeom>
          <a:solidFill xmlns:a="http://schemas.openxmlformats.org/drawingml/2006/main">
            <a:srgbClr val="DC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analysis_absolute_button_2_0">
            <a:extLst xmlns:a="http://schemas.openxmlformats.org/drawingml/2006/main">
              <a:ext uri="{FF2B5EF4-FFF2-40B4-BE49-F238E27FC236}">
                <a16:creationId xmlns:a16="http://schemas.microsoft.com/office/drawing/2014/main" id="{DC256723-9949-4926-9A58-37ADD631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5746" y="7670102"/>
            <a:ext cx="111252" cy="107442"/>
          </a:xfrm>
          <a:prstGeom xmlns:a="http://schemas.openxmlformats.org/drawingml/2006/main" prst="roundRect">
            <a:avLst>
              <a:gd name="adj" fmla="val 17730"/>
            </a:avLst>
          </a:prstGeom>
          <a:solidFill xmlns:a="http://schemas.openxmlformats.org/drawingml/2006/main">
            <a:srgbClr val="DC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analysis_absolute_button_2_1">
            <a:extLst xmlns:a="http://schemas.openxmlformats.org/drawingml/2006/main">
              <a:ext uri="{FF2B5EF4-FFF2-40B4-BE49-F238E27FC236}">
                <a16:creationId xmlns:a16="http://schemas.microsoft.com/office/drawing/2014/main" id="{77B21898-FC8F-42A5-8014-F323D75E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9577" y="7670102"/>
            <a:ext cx="111252" cy="107442"/>
          </a:xfrm>
          <a:prstGeom xmlns:a="http://schemas.openxmlformats.org/drawingml/2006/main" prst="roundRect">
            <a:avLst>
              <a:gd name="adj" fmla="val 17730"/>
            </a:avLst>
          </a:prstGeom>
          <a:solidFill xmlns:a="http://schemas.openxmlformats.org/drawingml/2006/main">
            <a:srgbClr val="DC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analysis_absolute_button_2_2">
            <a:extLst xmlns:a="http://schemas.openxmlformats.org/drawingml/2006/main">
              <a:ext uri="{FF2B5EF4-FFF2-40B4-BE49-F238E27FC236}">
                <a16:creationId xmlns:a16="http://schemas.microsoft.com/office/drawing/2014/main" id="{ADBB3840-8151-4F3A-826F-8EA4241E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408" y="7670102"/>
            <a:ext cx="111252" cy="107442"/>
          </a:xfrm>
          <a:prstGeom xmlns:a="http://schemas.openxmlformats.org/drawingml/2006/main" prst="roundRect">
            <a:avLst>
              <a:gd name="adj" fmla="val 17730"/>
            </a:avLst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analysis_absolute_label">
            <a:extLst xmlns:a="http://schemas.openxmlformats.org/drawingml/2006/main">
              <a:ext uri="{FF2B5EF4-FFF2-40B4-BE49-F238E27FC236}">
                <a16:creationId xmlns:a16="http://schemas.microsoft.com/office/drawing/2014/main" id="{3B169A31-C73F-4844-AD88-E4D4E3BD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0900" y="7096125"/>
            <a:ext cx="280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HRS absolute risks</a:t>
            </a:r>
          </a:p>
        </p:txBody>
      </p:sp>
      <p:sp>
        <p:nvSpPr>
          <p:cNvPr id="260" name="analysis_sensitivity_handle">
            <a:extLst xmlns:a="http://schemas.openxmlformats.org/drawingml/2006/main">
              <a:ext uri="{FF2B5EF4-FFF2-40B4-BE49-F238E27FC236}">
                <a16:creationId xmlns:a16="http://schemas.microsoft.com/office/drawing/2014/main" id="{CBBC56F9-46E3-46C2-B9F9-ACB8E32A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7562850"/>
            <a:ext cx="333375" cy="333375"/>
          </a:xfrm>
          <a:custGeom xmlns:a="http://schemas.openxmlformats.org/drawingml/2006/main">
            <a:pathLst>
              <a:path w="333375" h="333375">
                <a:moveTo>
                  <a:pt x="333375" y="0"/>
                </a:moveTo>
                <a:lnTo>
                  <a:pt x="0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133350">
            <a:solidFill>
              <a:srgbClr val="00877B"/>
            </a:solidFill>
            <a:prstDash val="solid"/>
          </a:ln>
        </p:spPr>
      </p:sp>
      <p:sp>
        <p:nvSpPr>
          <p:cNvPr id="261" name="analysis_sensitivity_glass">
            <a:extLst xmlns:a="http://schemas.openxmlformats.org/drawingml/2006/main">
              <a:ext uri="{FF2B5EF4-FFF2-40B4-BE49-F238E27FC236}">
                <a16:creationId xmlns:a16="http://schemas.microsoft.com/office/drawing/2014/main" id="{BA8B5A5F-F4C4-4898-951C-A016B60D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34700" y="69627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75">
            <a:solidFill>
              <a:srgbClr val="00877B"/>
            </a:solidFill>
            <a:prstDash val="solid"/>
          </a:ln>
        </p:spPr>
      </p:sp>
      <p:sp>
        <p:nvSpPr>
          <p:cNvPr id="262" name="analysis_sensitivity_check_box">
            <a:extLst xmlns:a="http://schemas.openxmlformats.org/drawingml/2006/main">
              <a:ext uri="{FF2B5EF4-FFF2-40B4-BE49-F238E27FC236}">
                <a16:creationId xmlns:a16="http://schemas.microsoft.com/office/drawing/2014/main" id="{5486103F-0F62-4256-AA20-A87A79CF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0" y="7153275"/>
            <a:ext cx="304800" cy="304800"/>
          </a:xfrm>
          <a:prstGeom xmlns:a="http://schemas.openxmlformats.org/drawingml/2006/main" prst="roundRect">
            <a:avLst>
              <a:gd name="adj" fmla="val 9375"/>
            </a:avLst>
          </a:prstGeom>
          <a:noFill xmlns:a="http://schemas.openxmlformats.org/drawingml/2006/main"/>
          <a:ln xmlns:a="http://schemas.openxmlformats.org/drawingml/2006/main" w="23813">
            <a:solidFill>
              <a:srgbClr val="00877B"/>
            </a:solidFill>
            <a:prstDash val="solid"/>
          </a:ln>
        </p:spPr>
      </p:sp>
      <p:sp>
        <p:nvSpPr>
          <p:cNvPr id="263" name="analysis_sensitivity_check">
            <a:extLst xmlns:a="http://schemas.openxmlformats.org/drawingml/2006/main">
              <a:ext uri="{FF2B5EF4-FFF2-40B4-BE49-F238E27FC236}">
                <a16:creationId xmlns:a16="http://schemas.microsoft.com/office/drawing/2014/main" id="{86BA16A8-E3C7-4DD6-927F-BFEFADEA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7153275"/>
            <a:ext cx="276225" cy="228600"/>
          </a:xfrm>
          <a:custGeom xmlns:a="http://schemas.openxmlformats.org/drawingml/2006/main">
            <a:pathLst>
              <a:path w="276225" h="228600">
                <a:moveTo>
                  <a:pt x="0" y="142875"/>
                </a:moveTo>
                <a:lnTo>
                  <a:pt x="85725" y="228600"/>
                </a:ln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0877B"/>
            </a:solidFill>
            <a:prstDash val="solid"/>
          </a:ln>
        </p:spPr>
      </p:sp>
      <p:sp>
        <p:nvSpPr>
          <p:cNvPr id="264" name="analysis_sensitivity_label">
            <a:extLst xmlns:a="http://schemas.openxmlformats.org/drawingml/2006/main">
              <a:ext uri="{FF2B5EF4-FFF2-40B4-BE49-F238E27FC236}">
                <a16:creationId xmlns:a16="http://schemas.microsoft.com/office/drawing/2014/main" id="{DE909C94-A787-4699-BA1B-5D2ACDDD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82450" y="7096125"/>
            <a:ext cx="2990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Sensitivity analyses</a:t>
            </a:r>
          </a:p>
        </p:txBody>
      </p:sp>
      <p:sp>
        <p:nvSpPr>
          <p:cNvPr id="265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5E5A990F-B985-4C32-B842-591712FD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0" y="81057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Observational associations</a:t>
            </a:r>
          </a:p>
        </p:txBody>
      </p:sp>
    </p:spTree>
    <p:extLst>
      <p:ext uri="{BB962C8B-B14F-4D97-AF65-F5344CB8AC3E}">
        <p14:creationId xmlns:p14="http://schemas.microsoft.com/office/powerpoint/2010/main" val="16612988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2026-10-02T04:50:34.0180000Z</dcterms:created>
  <dcterms:modified xsi:type="dcterms:W3CDTF">2026-10-02T04:50:34.0180000Z</dcterms:modified>
</coreProperties>
</file>